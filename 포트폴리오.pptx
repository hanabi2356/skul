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2"/>
    <p:sldId id="261" r:id="rId3"/>
    <p:sldId id="266" r:id="rId4"/>
    <p:sldId id="262" r:id="rId5"/>
    <p:sldId id="267" r:id="rId6"/>
    <p:sldId id="268" r:id="rId7"/>
    <p:sldId id="269" r:id="rId8"/>
    <p:sldId id="270" r:id="rId9"/>
    <p:sldId id="271" r:id="rId10"/>
    <p:sldId id="272" r:id="rId11"/>
    <p:sldId id="263" r:id="rId12"/>
    <p:sldId id="264" r:id="rId13"/>
    <p:sldId id="265" r:id="rId14"/>
  </p:sldIdLst>
  <p:sldSz cx="18288000" cy="10287000"/>
  <p:notesSz cx="6858000" cy="9144000"/>
  <p:embeddedFontLst>
    <p:embeddedFont>
      <p:font typeface="윤고딕" panose="020B0600000101010101" charset="-127"/>
      <p:regular r:id="rId15"/>
    </p:embeddedFont>
    <p:embeddedFont>
      <p:font typeface="윤고딕 Light" panose="020B0600000101010101" charset="-127"/>
      <p:regular r:id="rId16"/>
    </p:embeddedFont>
    <p:embeddedFont>
      <p:font typeface="윤고딕 Thin" panose="020B0600000101010101" charset="-127"/>
      <p:regular r:id="rId17"/>
    </p:embeddedFont>
    <p:embeddedFont>
      <p:font typeface="Alexandria Bold" panose="020B0600000101010101" charset="-78"/>
      <p:regular r:id="rId18"/>
    </p:embeddedFont>
    <p:embeddedFont>
      <p:font typeface="Alexandria Light" panose="020B0600000101010101" charset="-78"/>
      <p:regular r:id="rId19"/>
    </p:embeddedFont>
    <p:embeddedFont>
      <p:font typeface="Alexandria Semi-Bold" panose="020B0600000101010101" charset="-78"/>
      <p:regular r:id="rId20"/>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22" autoAdjust="0"/>
  </p:normalViewPr>
  <p:slideViewPr>
    <p:cSldViewPr>
      <p:cViewPr varScale="1">
        <p:scale>
          <a:sx n="46" d="100"/>
          <a:sy n="46" d="100"/>
        </p:scale>
        <p:origin x="900" y="54"/>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4.fntdata"/><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3.fntdata"/><Relationship Id="rId2" Type="http://schemas.openxmlformats.org/officeDocument/2006/relationships/slide" Target="slides/slide1.xml"/><Relationship Id="rId16" Type="http://schemas.openxmlformats.org/officeDocument/2006/relationships/font" Target="fonts/font2.fntdata"/><Relationship Id="rId20" Type="http://schemas.openxmlformats.org/officeDocument/2006/relationships/font" Target="fonts/font6.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font" Target="fonts/font1.fntdata"/><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font" Target="fonts/font5.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9/16/2026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9/16/2026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9/16/2026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9/16/2026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9/16/2026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9/16/2026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9/16/2026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9/16/2026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9/16/2026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9/16/2026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9/16/2026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9/16/2026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7.xml"/><Relationship Id="rId4" Type="http://schemas.openxmlformats.org/officeDocument/2006/relationships/image" Target="../media/image12.png"/></Relationships>
</file>

<file path=ppt/slides/_rels/slide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7.xml"/><Relationship Id="rId5" Type="http://schemas.openxmlformats.org/officeDocument/2006/relationships/image" Target="../media/image16.png"/><Relationship Id="rId4" Type="http://schemas.openxmlformats.org/officeDocument/2006/relationships/image" Target="../media/image15.png"/></Relationships>
</file>

<file path=ppt/slides/_rels/slide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7.xml"/><Relationship Id="rId5" Type="http://schemas.openxmlformats.org/officeDocument/2006/relationships/image" Target="../media/image20.png"/><Relationship Id="rId4" Type="http://schemas.openxmlformats.org/officeDocument/2006/relationships/image" Target="../media/image19.png"/></Relationships>
</file>

<file path=ppt/slides/_rels/slide8.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25.jpeg"/><Relationship Id="rId2" Type="http://schemas.openxmlformats.org/officeDocument/2006/relationships/image" Target="../media/image24.jpe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27.jpeg"/><Relationship Id="rId2" Type="http://schemas.openxmlformats.org/officeDocument/2006/relationships/image" Target="../media/image26.jpeg"/><Relationship Id="rId1" Type="http://schemas.openxmlformats.org/officeDocument/2006/relationships/slideLayout" Target="../slideLayouts/slideLayout7.xml"/><Relationship Id="rId4" Type="http://schemas.openxmlformats.org/officeDocument/2006/relationships/image" Target="../media/image28.jpe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212121"/>
        </a:solidFill>
        <a:effectLst/>
      </p:bgPr>
    </p:bg>
    <p:spTree>
      <p:nvGrpSpPr>
        <p:cNvPr id="1" name=""/>
        <p:cNvGrpSpPr/>
        <p:nvPr/>
      </p:nvGrpSpPr>
      <p:grpSpPr>
        <a:xfrm>
          <a:off x="0" y="0"/>
          <a:ext cx="0" cy="0"/>
          <a:chOff x="0" y="0"/>
          <a:chExt cx="0" cy="0"/>
        </a:xfrm>
      </p:grpSpPr>
      <p:sp>
        <p:nvSpPr>
          <p:cNvPr id="2" name="TextBox 2"/>
          <p:cNvSpPr txBox="1"/>
          <p:nvPr/>
        </p:nvSpPr>
        <p:spPr>
          <a:xfrm>
            <a:off x="923925" y="6018297"/>
            <a:ext cx="12680226" cy="2605805"/>
          </a:xfrm>
          <a:prstGeom prst="rect">
            <a:avLst/>
          </a:prstGeom>
        </p:spPr>
        <p:txBody>
          <a:bodyPr lIns="0" tIns="0" rIns="0" bIns="0" rtlCol="0" anchor="t">
            <a:spAutoFit/>
          </a:bodyPr>
          <a:lstStyle/>
          <a:p>
            <a:pPr algn="l">
              <a:lnSpc>
                <a:spcPts val="21368"/>
              </a:lnSpc>
            </a:pPr>
            <a:r>
              <a:rPr lang="en-US" sz="15263" b="1" dirty="0">
                <a:solidFill>
                  <a:srgbClr val="FFFFFF"/>
                </a:solidFill>
                <a:latin typeface="Alexandria Bold"/>
                <a:ea typeface="Alexandria Bold"/>
                <a:cs typeface="Alexandria Bold"/>
                <a:sym typeface="Alexandria Bold"/>
              </a:rPr>
              <a:t>PORTFOLIO.</a:t>
            </a:r>
          </a:p>
        </p:txBody>
      </p:sp>
      <p:sp>
        <p:nvSpPr>
          <p:cNvPr id="3" name="TextBox 3"/>
          <p:cNvSpPr txBox="1"/>
          <p:nvPr/>
        </p:nvSpPr>
        <p:spPr>
          <a:xfrm>
            <a:off x="1028700" y="8897620"/>
            <a:ext cx="11923841" cy="374650"/>
          </a:xfrm>
          <a:prstGeom prst="rect">
            <a:avLst/>
          </a:prstGeom>
        </p:spPr>
        <p:txBody>
          <a:bodyPr lIns="0" tIns="0" rIns="0" bIns="0" rtlCol="0" anchor="t">
            <a:spAutoFit/>
          </a:bodyPr>
          <a:lstStyle/>
          <a:p>
            <a:pPr marL="0" lvl="0" indent="0" algn="l">
              <a:lnSpc>
                <a:spcPts val="3199"/>
              </a:lnSpc>
              <a:spcBef>
                <a:spcPct val="0"/>
              </a:spcBef>
            </a:pPr>
            <a:r>
              <a:rPr lang="ko-KR" altLang="en-US" sz="1999" dirty="0">
                <a:solidFill>
                  <a:srgbClr val="B4B4B4"/>
                </a:solidFill>
                <a:latin typeface="윤고딕 Light"/>
                <a:ea typeface="윤고딕 Light"/>
                <a:cs typeface="윤고딕 Light"/>
                <a:sym typeface="윤고딕 Light"/>
              </a:rPr>
              <a:t>정태민</a:t>
            </a:r>
            <a:r>
              <a:rPr lang="en-US" sz="1999" dirty="0">
                <a:solidFill>
                  <a:srgbClr val="B4B4B4"/>
                </a:solidFill>
                <a:latin typeface="윤고딕 Light"/>
                <a:ea typeface="윤고딕 Light"/>
                <a:cs typeface="윤고딕 Light"/>
                <a:sym typeface="윤고딕 Light"/>
              </a:rPr>
              <a:t>     PHONE: 010-4114-2196     MAIL: hanabira2356@gamil.com</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212121"/>
        </a:solidFill>
        <a:effectLst/>
      </p:bgPr>
    </p:bg>
    <p:spTree>
      <p:nvGrpSpPr>
        <p:cNvPr id="1" name=""/>
        <p:cNvGrpSpPr/>
        <p:nvPr/>
      </p:nvGrpSpPr>
      <p:grpSpPr>
        <a:xfrm>
          <a:off x="0" y="0"/>
          <a:ext cx="0" cy="0"/>
          <a:chOff x="0" y="0"/>
          <a:chExt cx="0" cy="0"/>
        </a:xfrm>
      </p:grpSpPr>
      <p:sp>
        <p:nvSpPr>
          <p:cNvPr id="2" name="TextBox 2"/>
          <p:cNvSpPr txBox="1"/>
          <p:nvPr/>
        </p:nvSpPr>
        <p:spPr>
          <a:xfrm>
            <a:off x="1028700" y="771526"/>
            <a:ext cx="4364912" cy="264159"/>
          </a:xfrm>
          <a:prstGeom prst="rect">
            <a:avLst/>
          </a:prstGeom>
        </p:spPr>
        <p:txBody>
          <a:bodyPr lIns="0" tIns="0" rIns="0" bIns="0" rtlCol="0" anchor="t">
            <a:spAutoFit/>
          </a:bodyPr>
          <a:lstStyle/>
          <a:p>
            <a:pPr marL="0" lvl="0" indent="0" algn="l">
              <a:lnSpc>
                <a:spcPts val="2240"/>
              </a:lnSpc>
              <a:spcBef>
                <a:spcPct val="0"/>
              </a:spcBef>
            </a:pPr>
            <a:r>
              <a:rPr lang="en-US" sz="1600">
                <a:solidFill>
                  <a:srgbClr val="737373"/>
                </a:solidFill>
                <a:latin typeface="Alexandria Light"/>
                <a:ea typeface="Alexandria Light"/>
                <a:cs typeface="Alexandria Light"/>
                <a:sym typeface="Alexandria Light"/>
              </a:rPr>
              <a:t>PORTFOLIO</a:t>
            </a:r>
          </a:p>
        </p:txBody>
      </p:sp>
      <p:sp>
        <p:nvSpPr>
          <p:cNvPr id="4" name="AutoShape 4"/>
          <p:cNvSpPr/>
          <p:nvPr/>
        </p:nvSpPr>
        <p:spPr>
          <a:xfrm>
            <a:off x="1063336" y="4393627"/>
            <a:ext cx="8691248" cy="0"/>
          </a:xfrm>
          <a:prstGeom prst="line">
            <a:avLst/>
          </a:prstGeom>
          <a:ln w="9525" cap="flat">
            <a:solidFill>
              <a:srgbClr val="737373"/>
            </a:solidFill>
            <a:prstDash val="solid"/>
            <a:headEnd type="none" w="sm" len="sm"/>
            <a:tailEnd type="none" w="sm" len="sm"/>
          </a:ln>
        </p:spPr>
      </p:sp>
      <p:sp>
        <p:nvSpPr>
          <p:cNvPr id="9" name="TextBox 9"/>
          <p:cNvSpPr txBox="1"/>
          <p:nvPr/>
        </p:nvSpPr>
        <p:spPr>
          <a:xfrm>
            <a:off x="1028700" y="1287663"/>
            <a:ext cx="7962900" cy="1567224"/>
          </a:xfrm>
          <a:prstGeom prst="rect">
            <a:avLst/>
          </a:prstGeom>
        </p:spPr>
        <p:txBody>
          <a:bodyPr wrap="square" lIns="0" tIns="0" rIns="0" bIns="0" rtlCol="0" anchor="t">
            <a:spAutoFit/>
          </a:bodyPr>
          <a:lstStyle/>
          <a:p>
            <a:pPr algn="l">
              <a:lnSpc>
                <a:spcPts val="13153"/>
              </a:lnSpc>
            </a:pPr>
            <a:r>
              <a:rPr lang="en-US" sz="9395" b="1" dirty="0">
                <a:solidFill>
                  <a:srgbClr val="FFFFFF"/>
                </a:solidFill>
                <a:latin typeface="Alexandria Semi-Bold"/>
                <a:ea typeface="Alexandria Semi-Bold"/>
                <a:cs typeface="Alexandria Semi-Bold"/>
                <a:sym typeface="Alexandria Semi-Bold"/>
              </a:rPr>
              <a:t>SKILL &amp; Tool</a:t>
            </a:r>
          </a:p>
        </p:txBody>
      </p:sp>
      <p:pic>
        <p:nvPicPr>
          <p:cNvPr id="15" name="그림 14">
            <a:extLst>
              <a:ext uri="{FF2B5EF4-FFF2-40B4-BE49-F238E27FC236}">
                <a16:creationId xmlns:a16="http://schemas.microsoft.com/office/drawing/2014/main" id="{C3822B47-1A59-F125-D1F9-455D31884C4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63336" y="4586622"/>
            <a:ext cx="848591" cy="953972"/>
          </a:xfrm>
          <a:prstGeom prst="rect">
            <a:avLst/>
          </a:prstGeom>
        </p:spPr>
      </p:pic>
      <p:pic>
        <p:nvPicPr>
          <p:cNvPr id="17" name="그림 16">
            <a:extLst>
              <a:ext uri="{FF2B5EF4-FFF2-40B4-BE49-F238E27FC236}">
                <a16:creationId xmlns:a16="http://schemas.microsoft.com/office/drawing/2014/main" id="{D97B8ECB-FB91-5E11-CBF8-9B6D0618160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752600" y="4275912"/>
            <a:ext cx="1650593" cy="1650593"/>
          </a:xfrm>
          <a:prstGeom prst="rect">
            <a:avLst/>
          </a:prstGeom>
        </p:spPr>
      </p:pic>
      <p:pic>
        <p:nvPicPr>
          <p:cNvPr id="19" name="그림 18">
            <a:extLst>
              <a:ext uri="{FF2B5EF4-FFF2-40B4-BE49-F238E27FC236}">
                <a16:creationId xmlns:a16="http://schemas.microsoft.com/office/drawing/2014/main" id="{158428CF-3EA0-9268-8662-8C6A8769E155}"/>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590800" y="4457700"/>
            <a:ext cx="2168261" cy="1219647"/>
          </a:xfrm>
          <a:prstGeom prst="rect">
            <a:avLst/>
          </a:prstGeom>
        </p:spPr>
      </p:pic>
      <p:pic>
        <p:nvPicPr>
          <p:cNvPr id="21" name="그림 20">
            <a:extLst>
              <a:ext uri="{FF2B5EF4-FFF2-40B4-BE49-F238E27FC236}">
                <a16:creationId xmlns:a16="http://schemas.microsoft.com/office/drawing/2014/main" id="{88E01648-A553-72D8-73A4-BC473C342DCB}"/>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302895" y="4633883"/>
            <a:ext cx="912332" cy="906711"/>
          </a:xfrm>
          <a:prstGeom prst="rect">
            <a:avLst/>
          </a:prstGeom>
        </p:spPr>
      </p:pic>
      <p:pic>
        <p:nvPicPr>
          <p:cNvPr id="27" name="그림 26">
            <a:extLst>
              <a:ext uri="{FF2B5EF4-FFF2-40B4-BE49-F238E27FC236}">
                <a16:creationId xmlns:a16="http://schemas.microsoft.com/office/drawing/2014/main" id="{83994544-F74C-8612-9BD5-8EA6866E4BEF}"/>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5334000" y="4607442"/>
            <a:ext cx="912332" cy="912332"/>
          </a:xfrm>
          <a:prstGeom prst="rect">
            <a:avLst/>
          </a:prstGeom>
        </p:spPr>
      </p:pic>
      <p:pic>
        <p:nvPicPr>
          <p:cNvPr id="29" name="그림 28">
            <a:extLst>
              <a:ext uri="{FF2B5EF4-FFF2-40B4-BE49-F238E27FC236}">
                <a16:creationId xmlns:a16="http://schemas.microsoft.com/office/drawing/2014/main" id="{6560465D-940B-B256-4C83-FE17F35C9A1D}"/>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6399741" y="4552103"/>
            <a:ext cx="920426" cy="1098210"/>
          </a:xfrm>
          <a:prstGeom prst="rect">
            <a:avLst/>
          </a:prstGeom>
        </p:spPr>
      </p:pic>
      <p:pic>
        <p:nvPicPr>
          <p:cNvPr id="31" name="그림 30">
            <a:extLst>
              <a:ext uri="{FF2B5EF4-FFF2-40B4-BE49-F238E27FC236}">
                <a16:creationId xmlns:a16="http://schemas.microsoft.com/office/drawing/2014/main" id="{7EFD5502-FF81-2E99-7156-BF542537362B}"/>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7518603" y="4650461"/>
            <a:ext cx="986078" cy="986078"/>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212121"/>
        </a:solidFill>
        <a:effectLst/>
      </p:bgPr>
    </p:bg>
    <p:spTree>
      <p:nvGrpSpPr>
        <p:cNvPr id="1" name="">
          <a:extLst>
            <a:ext uri="{FF2B5EF4-FFF2-40B4-BE49-F238E27FC236}">
              <a16:creationId xmlns:a16="http://schemas.microsoft.com/office/drawing/2014/main" id="{702E8ACE-9730-6566-0E39-22E65B307B6B}"/>
            </a:ext>
          </a:extLst>
        </p:cNvPr>
        <p:cNvGrpSpPr/>
        <p:nvPr/>
      </p:nvGrpSpPr>
      <p:grpSpPr>
        <a:xfrm>
          <a:off x="0" y="0"/>
          <a:ext cx="0" cy="0"/>
          <a:chOff x="0" y="0"/>
          <a:chExt cx="0" cy="0"/>
        </a:xfrm>
      </p:grpSpPr>
      <p:sp>
        <p:nvSpPr>
          <p:cNvPr id="4" name="TextBox 4">
            <a:extLst>
              <a:ext uri="{FF2B5EF4-FFF2-40B4-BE49-F238E27FC236}">
                <a16:creationId xmlns:a16="http://schemas.microsoft.com/office/drawing/2014/main" id="{DB432BFF-496F-92CB-DD63-213839F2721D}"/>
              </a:ext>
            </a:extLst>
          </p:cNvPr>
          <p:cNvSpPr txBox="1"/>
          <p:nvPr/>
        </p:nvSpPr>
        <p:spPr>
          <a:xfrm>
            <a:off x="1028700" y="771526"/>
            <a:ext cx="4364912" cy="264159"/>
          </a:xfrm>
          <a:prstGeom prst="rect">
            <a:avLst/>
          </a:prstGeom>
        </p:spPr>
        <p:txBody>
          <a:bodyPr lIns="0" tIns="0" rIns="0" bIns="0" rtlCol="0" anchor="t">
            <a:spAutoFit/>
          </a:bodyPr>
          <a:lstStyle/>
          <a:p>
            <a:pPr marL="0" lvl="0" indent="0" algn="l">
              <a:lnSpc>
                <a:spcPts val="2240"/>
              </a:lnSpc>
              <a:spcBef>
                <a:spcPct val="0"/>
              </a:spcBef>
            </a:pPr>
            <a:r>
              <a:rPr lang="en-US" sz="1600">
                <a:solidFill>
                  <a:srgbClr val="737373"/>
                </a:solidFill>
                <a:latin typeface="Alexandria Light"/>
                <a:ea typeface="Alexandria Light"/>
                <a:cs typeface="Alexandria Light"/>
                <a:sym typeface="Alexandria Light"/>
              </a:rPr>
              <a:t>PORTFOLIO</a:t>
            </a:r>
          </a:p>
        </p:txBody>
      </p:sp>
      <p:sp>
        <p:nvSpPr>
          <p:cNvPr id="6" name="TextBox 6">
            <a:extLst>
              <a:ext uri="{FF2B5EF4-FFF2-40B4-BE49-F238E27FC236}">
                <a16:creationId xmlns:a16="http://schemas.microsoft.com/office/drawing/2014/main" id="{69B88CBB-E024-1E4D-B3E3-32682E4B22B7}"/>
              </a:ext>
            </a:extLst>
          </p:cNvPr>
          <p:cNvSpPr txBox="1"/>
          <p:nvPr/>
        </p:nvSpPr>
        <p:spPr>
          <a:xfrm>
            <a:off x="1028700" y="1286970"/>
            <a:ext cx="5882762" cy="678199"/>
          </a:xfrm>
          <a:prstGeom prst="rect">
            <a:avLst/>
          </a:prstGeom>
        </p:spPr>
        <p:txBody>
          <a:bodyPr lIns="0" tIns="0" rIns="0" bIns="0" rtlCol="0" anchor="t">
            <a:spAutoFit/>
          </a:bodyPr>
          <a:lstStyle/>
          <a:p>
            <a:pPr algn="l">
              <a:lnSpc>
                <a:spcPts val="5837"/>
              </a:lnSpc>
            </a:pPr>
            <a:r>
              <a:rPr lang="en-US" sz="3998" spc="79" dirty="0" err="1">
                <a:solidFill>
                  <a:srgbClr val="FFFFFF"/>
                </a:solidFill>
                <a:latin typeface="윤고딕"/>
                <a:ea typeface="윤고딕"/>
                <a:cs typeface="윤고딕"/>
                <a:sym typeface="윤고딕"/>
              </a:rPr>
              <a:t>Skul</a:t>
            </a:r>
            <a:r>
              <a:rPr lang="en-US" sz="3998" spc="79" dirty="0">
                <a:solidFill>
                  <a:srgbClr val="FFFFFF"/>
                </a:solidFill>
                <a:latin typeface="윤고딕"/>
                <a:ea typeface="윤고딕"/>
                <a:cs typeface="윤고딕"/>
                <a:sym typeface="윤고딕"/>
              </a:rPr>
              <a:t> </a:t>
            </a:r>
            <a:r>
              <a:rPr lang="ko-KR" altLang="en-US" sz="3998" spc="79" dirty="0">
                <a:solidFill>
                  <a:srgbClr val="FFFFFF"/>
                </a:solidFill>
                <a:latin typeface="윤고딕"/>
                <a:ea typeface="윤고딕"/>
                <a:cs typeface="윤고딕"/>
                <a:sym typeface="윤고딕"/>
              </a:rPr>
              <a:t>모작</a:t>
            </a:r>
            <a:endParaRPr lang="en-US" sz="3998" spc="79" dirty="0">
              <a:solidFill>
                <a:srgbClr val="FFFFFF"/>
              </a:solidFill>
              <a:latin typeface="윤고딕"/>
              <a:ea typeface="윤고딕"/>
              <a:cs typeface="윤고딕"/>
              <a:sym typeface="윤고딕"/>
            </a:endParaRPr>
          </a:p>
        </p:txBody>
      </p:sp>
      <p:sp>
        <p:nvSpPr>
          <p:cNvPr id="7" name="TextBox 7">
            <a:extLst>
              <a:ext uri="{FF2B5EF4-FFF2-40B4-BE49-F238E27FC236}">
                <a16:creationId xmlns:a16="http://schemas.microsoft.com/office/drawing/2014/main" id="{21D236C2-00C9-C963-82FE-BE1211020B80}"/>
              </a:ext>
            </a:extLst>
          </p:cNvPr>
          <p:cNvSpPr txBox="1"/>
          <p:nvPr/>
        </p:nvSpPr>
        <p:spPr>
          <a:xfrm>
            <a:off x="1028700" y="2146698"/>
            <a:ext cx="2750145" cy="332740"/>
          </a:xfrm>
          <a:prstGeom prst="rect">
            <a:avLst/>
          </a:prstGeom>
        </p:spPr>
        <p:txBody>
          <a:bodyPr lIns="0" tIns="0" rIns="0" bIns="0" rtlCol="0" anchor="t">
            <a:spAutoFit/>
          </a:bodyPr>
          <a:lstStyle/>
          <a:p>
            <a:pPr algn="l">
              <a:lnSpc>
                <a:spcPts val="2659"/>
              </a:lnSpc>
            </a:pPr>
            <a:r>
              <a:rPr lang="en-US" sz="1899" dirty="0">
                <a:solidFill>
                  <a:srgbClr val="FFFFFF"/>
                </a:solidFill>
                <a:latin typeface="윤고딕"/>
                <a:ea typeface="윤고딕"/>
                <a:cs typeface="윤고딕"/>
                <a:sym typeface="윤고딕"/>
              </a:rPr>
              <a:t>2050. 01. 02</a:t>
            </a:r>
          </a:p>
        </p:txBody>
      </p:sp>
      <p:sp>
        <p:nvSpPr>
          <p:cNvPr id="8" name="TextBox 8">
            <a:extLst>
              <a:ext uri="{FF2B5EF4-FFF2-40B4-BE49-F238E27FC236}">
                <a16:creationId xmlns:a16="http://schemas.microsoft.com/office/drawing/2014/main" id="{4993417F-A925-693A-041D-551D995C97A3}"/>
              </a:ext>
            </a:extLst>
          </p:cNvPr>
          <p:cNvSpPr txBox="1"/>
          <p:nvPr/>
        </p:nvSpPr>
        <p:spPr>
          <a:xfrm>
            <a:off x="6911462" y="1391426"/>
            <a:ext cx="10347832" cy="1968359"/>
          </a:xfrm>
          <a:prstGeom prst="rect">
            <a:avLst/>
          </a:prstGeom>
        </p:spPr>
        <p:txBody>
          <a:bodyPr lIns="0" tIns="0" rIns="0" bIns="0" rtlCol="0" anchor="t">
            <a:spAutoFit/>
          </a:bodyPr>
          <a:lstStyle/>
          <a:p>
            <a:pPr algn="just">
              <a:lnSpc>
                <a:spcPts val="2600"/>
              </a:lnSpc>
            </a:pPr>
            <a:r>
              <a:rPr lang="ko-KR" altLang="en-US" sz="3000" dirty="0">
                <a:solidFill>
                  <a:srgbClr val="FFFFFF"/>
                </a:solidFill>
                <a:latin typeface="윤고딕 Thin" panose="020B0600000101010101" charset="-127"/>
                <a:ea typeface="윤고딕 Thin" panose="020B0600000101010101" charset="-127"/>
                <a:cs typeface="윤고딕 Thin"/>
                <a:sym typeface="윤고딕 Thin"/>
              </a:rPr>
              <a:t>프로젝트 단위</a:t>
            </a:r>
            <a:r>
              <a:rPr lang="en-US" altLang="ko-KR" sz="3000" dirty="0">
                <a:solidFill>
                  <a:srgbClr val="FFFFFF"/>
                </a:solidFill>
                <a:latin typeface="윤고딕 Thin" panose="020B0600000101010101" charset="-127"/>
                <a:ea typeface="윤고딕 Thin" panose="020B0600000101010101" charset="-127"/>
                <a:cs typeface="윤고딕 Thin"/>
                <a:sym typeface="윤고딕 Thin"/>
              </a:rPr>
              <a:t>: </a:t>
            </a:r>
            <a:r>
              <a:rPr lang="ko-KR" altLang="en-US" sz="3000" dirty="0">
                <a:solidFill>
                  <a:srgbClr val="FFFFFF"/>
                </a:solidFill>
                <a:latin typeface="윤고딕 Thin" panose="020B0600000101010101" charset="-127"/>
                <a:ea typeface="윤고딕 Thin" panose="020B0600000101010101" charset="-127"/>
                <a:cs typeface="윤고딕 Thin"/>
                <a:sym typeface="윤고딕 Thin"/>
              </a:rPr>
              <a:t>개인 프로젝트</a:t>
            </a:r>
            <a:endParaRPr lang="en-US" altLang="ko-KR" sz="3000" dirty="0">
              <a:solidFill>
                <a:srgbClr val="FFFFFF"/>
              </a:solidFill>
              <a:latin typeface="윤고딕 Thin" panose="020B0600000101010101" charset="-127"/>
              <a:ea typeface="윤고딕 Thin" panose="020B0600000101010101" charset="-127"/>
              <a:cs typeface="윤고딕 Thin"/>
              <a:sym typeface="윤고딕 Thin"/>
            </a:endParaRPr>
          </a:p>
          <a:p>
            <a:pPr algn="just">
              <a:lnSpc>
                <a:spcPts val="2600"/>
              </a:lnSpc>
            </a:pPr>
            <a:endParaRPr lang="en-US" altLang="ko-KR" sz="3000" dirty="0">
              <a:solidFill>
                <a:srgbClr val="FFFFFF"/>
              </a:solidFill>
              <a:latin typeface="윤고딕 Thin" panose="020B0600000101010101" charset="-127"/>
              <a:ea typeface="윤고딕 Thin" panose="020B0600000101010101" charset="-127"/>
              <a:cs typeface="윤고딕 Thin"/>
              <a:sym typeface="윤고딕 Thin"/>
            </a:endParaRPr>
          </a:p>
          <a:p>
            <a:pPr algn="just">
              <a:lnSpc>
                <a:spcPts val="2600"/>
              </a:lnSpc>
            </a:pPr>
            <a:r>
              <a:rPr lang="ko-KR" altLang="en-US" sz="3000" dirty="0">
                <a:solidFill>
                  <a:srgbClr val="FFFFFF"/>
                </a:solidFill>
                <a:latin typeface="윤고딕 Thin" panose="020B0600000101010101" charset="-127"/>
                <a:ea typeface="윤고딕 Thin" panose="020B0600000101010101" charset="-127"/>
                <a:cs typeface="윤고딕 Thin"/>
                <a:sym typeface="윤고딕 Thin"/>
              </a:rPr>
              <a:t>사용된 엔진</a:t>
            </a:r>
            <a:r>
              <a:rPr lang="en-US" altLang="ko-KR" sz="3000" dirty="0">
                <a:solidFill>
                  <a:srgbClr val="FFFFFF"/>
                </a:solidFill>
                <a:latin typeface="윤고딕 Thin" panose="020B0600000101010101" charset="-127"/>
                <a:ea typeface="윤고딕 Thin" panose="020B0600000101010101" charset="-127"/>
                <a:cs typeface="윤고딕 Thin"/>
                <a:sym typeface="윤고딕 Thin"/>
              </a:rPr>
              <a:t>: Unity 6.3</a:t>
            </a:r>
          </a:p>
          <a:p>
            <a:pPr algn="just">
              <a:lnSpc>
                <a:spcPts val="2600"/>
              </a:lnSpc>
            </a:pPr>
            <a:endParaRPr lang="en-US" altLang="ko-KR" sz="3000" dirty="0">
              <a:solidFill>
                <a:srgbClr val="FFFFFF"/>
              </a:solidFill>
              <a:latin typeface="윤고딕 Thin" panose="020B0600000101010101" charset="-127"/>
              <a:ea typeface="윤고딕 Thin" panose="020B0600000101010101" charset="-127"/>
              <a:cs typeface="윤고딕 Thin"/>
              <a:sym typeface="윤고딕 Thin"/>
            </a:endParaRPr>
          </a:p>
          <a:p>
            <a:pPr algn="just">
              <a:lnSpc>
                <a:spcPts val="2600"/>
              </a:lnSpc>
            </a:pPr>
            <a:endParaRPr lang="en-US" altLang="ko-KR" sz="3000" dirty="0">
              <a:solidFill>
                <a:srgbClr val="FFFFFF"/>
              </a:solidFill>
              <a:latin typeface="윤고딕 Thin" panose="020B0600000101010101" charset="-127"/>
              <a:ea typeface="윤고딕 Thin" panose="020B0600000101010101" charset="-127"/>
              <a:cs typeface="윤고딕 Thin"/>
              <a:sym typeface="윤고딕 Thin"/>
            </a:endParaRPr>
          </a:p>
          <a:p>
            <a:pPr algn="just">
              <a:lnSpc>
                <a:spcPts val="2600"/>
              </a:lnSpc>
            </a:pPr>
            <a:endParaRPr lang="en-US" sz="1699" dirty="0">
              <a:solidFill>
                <a:srgbClr val="FFFFFF"/>
              </a:solidFill>
              <a:latin typeface="윤고딕 Thin" panose="020B0600000101010101" charset="-127"/>
              <a:ea typeface="윤고딕 Thin" panose="020B0600000101010101" charset="-127"/>
              <a:cs typeface="윤고딕 Thin"/>
              <a:sym typeface="윤고딕 Thin"/>
            </a:endParaRPr>
          </a:p>
        </p:txBody>
      </p:sp>
      <p:pic>
        <p:nvPicPr>
          <p:cNvPr id="10" name="그림 9">
            <a:extLst>
              <a:ext uri="{FF2B5EF4-FFF2-40B4-BE49-F238E27FC236}">
                <a16:creationId xmlns:a16="http://schemas.microsoft.com/office/drawing/2014/main" id="{AF8C1428-8160-4D20-5CAF-BBC5334D46C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28700" y="2660967"/>
            <a:ext cx="12867044" cy="7225742"/>
          </a:xfrm>
          <a:prstGeom prst="rect">
            <a:avLst/>
          </a:prstGeom>
        </p:spPr>
      </p:pic>
    </p:spTree>
    <p:extLst>
      <p:ext uri="{BB962C8B-B14F-4D97-AF65-F5344CB8AC3E}">
        <p14:creationId xmlns:p14="http://schemas.microsoft.com/office/powerpoint/2010/main" val="80285009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212121"/>
        </a:solidFill>
        <a:effectLst/>
      </p:bgPr>
    </p:bg>
    <p:spTree>
      <p:nvGrpSpPr>
        <p:cNvPr id="1" name=""/>
        <p:cNvGrpSpPr/>
        <p:nvPr/>
      </p:nvGrpSpPr>
      <p:grpSpPr>
        <a:xfrm>
          <a:off x="0" y="0"/>
          <a:ext cx="0" cy="0"/>
          <a:chOff x="0" y="0"/>
          <a:chExt cx="0" cy="0"/>
        </a:xfrm>
      </p:grpSpPr>
      <p:sp>
        <p:nvSpPr>
          <p:cNvPr id="4" name="TextBox 4"/>
          <p:cNvSpPr txBox="1"/>
          <p:nvPr/>
        </p:nvSpPr>
        <p:spPr>
          <a:xfrm>
            <a:off x="1028700" y="771526"/>
            <a:ext cx="4364912" cy="264159"/>
          </a:xfrm>
          <a:prstGeom prst="rect">
            <a:avLst/>
          </a:prstGeom>
        </p:spPr>
        <p:txBody>
          <a:bodyPr lIns="0" tIns="0" rIns="0" bIns="0" rtlCol="0" anchor="t">
            <a:spAutoFit/>
          </a:bodyPr>
          <a:lstStyle/>
          <a:p>
            <a:pPr marL="0" lvl="0" indent="0" algn="l">
              <a:lnSpc>
                <a:spcPts val="2240"/>
              </a:lnSpc>
              <a:spcBef>
                <a:spcPct val="0"/>
              </a:spcBef>
            </a:pPr>
            <a:r>
              <a:rPr lang="en-US" sz="1600">
                <a:solidFill>
                  <a:srgbClr val="737373"/>
                </a:solidFill>
                <a:latin typeface="Alexandria Light"/>
                <a:ea typeface="Alexandria Light"/>
                <a:cs typeface="Alexandria Light"/>
                <a:sym typeface="Alexandria Light"/>
              </a:rPr>
              <a:t>PORTFOLIO</a:t>
            </a:r>
          </a:p>
        </p:txBody>
      </p:sp>
      <p:sp>
        <p:nvSpPr>
          <p:cNvPr id="6" name="TextBox 6"/>
          <p:cNvSpPr txBox="1"/>
          <p:nvPr/>
        </p:nvSpPr>
        <p:spPr>
          <a:xfrm>
            <a:off x="1371600" y="4804400"/>
            <a:ext cx="5882762" cy="678199"/>
          </a:xfrm>
          <a:prstGeom prst="rect">
            <a:avLst/>
          </a:prstGeom>
        </p:spPr>
        <p:txBody>
          <a:bodyPr lIns="0" tIns="0" rIns="0" bIns="0" rtlCol="0" anchor="t">
            <a:spAutoFit/>
          </a:bodyPr>
          <a:lstStyle/>
          <a:p>
            <a:pPr algn="l">
              <a:lnSpc>
                <a:spcPts val="5837"/>
              </a:lnSpc>
            </a:pPr>
            <a:r>
              <a:rPr lang="ko-KR" altLang="en-US" sz="3998" spc="79" dirty="0">
                <a:solidFill>
                  <a:srgbClr val="FFFFFF"/>
                </a:solidFill>
                <a:latin typeface="윤고딕"/>
                <a:ea typeface="윤고딕"/>
                <a:cs typeface="윤고딕"/>
                <a:sym typeface="윤고딕"/>
              </a:rPr>
              <a:t>설명</a:t>
            </a:r>
            <a:endParaRPr lang="en-US" altLang="ko-KR" sz="3998" spc="79" dirty="0">
              <a:solidFill>
                <a:srgbClr val="FFFFFF"/>
              </a:solidFill>
              <a:latin typeface="윤고딕"/>
              <a:ea typeface="윤고딕"/>
              <a:cs typeface="윤고딕"/>
              <a:sym typeface="윤고딕"/>
            </a:endParaRPr>
          </a:p>
        </p:txBody>
      </p:sp>
      <p:sp>
        <p:nvSpPr>
          <p:cNvPr id="8" name="TextBox 8"/>
          <p:cNvSpPr txBox="1"/>
          <p:nvPr/>
        </p:nvSpPr>
        <p:spPr>
          <a:xfrm>
            <a:off x="1028700" y="2216454"/>
            <a:ext cx="10347832" cy="350352"/>
          </a:xfrm>
          <a:prstGeom prst="rect">
            <a:avLst/>
          </a:prstGeom>
        </p:spPr>
        <p:txBody>
          <a:bodyPr lIns="0" tIns="0" rIns="0" bIns="0" rtlCol="0" anchor="t">
            <a:spAutoFit/>
          </a:bodyPr>
          <a:lstStyle/>
          <a:p>
            <a:pPr algn="just">
              <a:lnSpc>
                <a:spcPts val="2600"/>
              </a:lnSpc>
            </a:pPr>
            <a:r>
              <a:rPr lang="en-US" sz="3000" dirty="0" err="1">
                <a:solidFill>
                  <a:srgbClr val="FFFFFF"/>
                </a:solidFill>
                <a:latin typeface="윤고딕 Thin"/>
                <a:ea typeface="윤고딕 Thin"/>
                <a:cs typeface="윤고딕 Thin"/>
                <a:sym typeface="윤고딕 Thin"/>
              </a:rPr>
              <a:t>Zenject</a:t>
            </a:r>
            <a:r>
              <a:rPr lang="ko-KR" altLang="en-US" sz="3000" dirty="0">
                <a:solidFill>
                  <a:srgbClr val="FFFFFF"/>
                </a:solidFill>
                <a:latin typeface="윤고딕 Thin"/>
                <a:ea typeface="윤고딕 Thin"/>
                <a:cs typeface="윤고딕 Thin"/>
                <a:sym typeface="윤고딕 Thin"/>
              </a:rPr>
              <a:t>를 이용한 의존성 주입</a:t>
            </a:r>
            <a:endParaRPr lang="en-US" sz="3000" dirty="0">
              <a:solidFill>
                <a:srgbClr val="FFFFFF"/>
              </a:solidFill>
              <a:latin typeface="윤고딕 Thin"/>
              <a:ea typeface="윤고딕 Thin"/>
              <a:cs typeface="윤고딕 Thin"/>
              <a:sym typeface="윤고딕 Thin"/>
            </a:endParaRPr>
          </a:p>
        </p:txBody>
      </p:sp>
      <p:pic>
        <p:nvPicPr>
          <p:cNvPr id="3" name="그림 2">
            <a:extLst>
              <a:ext uri="{FF2B5EF4-FFF2-40B4-BE49-F238E27FC236}">
                <a16:creationId xmlns:a16="http://schemas.microsoft.com/office/drawing/2014/main" id="{F85A5BF5-5E1F-A7BA-6A2C-C547436F8B9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534400" y="2818091"/>
            <a:ext cx="8938628" cy="6153403"/>
          </a:xfrm>
          <a:prstGeom prst="rect">
            <a:avLst/>
          </a:prstGeom>
        </p:spPr>
      </p:pic>
      <p:sp>
        <p:nvSpPr>
          <p:cNvPr id="5" name="TextBox 6">
            <a:extLst>
              <a:ext uri="{FF2B5EF4-FFF2-40B4-BE49-F238E27FC236}">
                <a16:creationId xmlns:a16="http://schemas.microsoft.com/office/drawing/2014/main" id="{6257CB1E-C224-2C19-C97B-080878A53041}"/>
              </a:ext>
            </a:extLst>
          </p:cNvPr>
          <p:cNvSpPr txBox="1"/>
          <p:nvPr/>
        </p:nvSpPr>
        <p:spPr>
          <a:xfrm>
            <a:off x="1181100" y="1439370"/>
            <a:ext cx="5882762" cy="678199"/>
          </a:xfrm>
          <a:prstGeom prst="rect">
            <a:avLst/>
          </a:prstGeom>
        </p:spPr>
        <p:txBody>
          <a:bodyPr lIns="0" tIns="0" rIns="0" bIns="0" rtlCol="0" anchor="t">
            <a:spAutoFit/>
          </a:bodyPr>
          <a:lstStyle/>
          <a:p>
            <a:pPr algn="l">
              <a:lnSpc>
                <a:spcPts val="5837"/>
              </a:lnSpc>
            </a:pPr>
            <a:r>
              <a:rPr lang="en-US" sz="3998" spc="79" dirty="0" err="1">
                <a:solidFill>
                  <a:srgbClr val="FFFFFF"/>
                </a:solidFill>
                <a:latin typeface="윤고딕"/>
                <a:ea typeface="윤고딕"/>
                <a:cs typeface="윤고딕"/>
                <a:sym typeface="윤고딕"/>
              </a:rPr>
              <a:t>Skul</a:t>
            </a:r>
            <a:r>
              <a:rPr lang="en-US" sz="3998" spc="79" dirty="0">
                <a:solidFill>
                  <a:srgbClr val="FFFFFF"/>
                </a:solidFill>
                <a:latin typeface="윤고딕"/>
                <a:ea typeface="윤고딕"/>
                <a:cs typeface="윤고딕"/>
                <a:sym typeface="윤고딕"/>
              </a:rPr>
              <a:t> </a:t>
            </a:r>
            <a:r>
              <a:rPr lang="ko-KR" altLang="en-US" sz="3998" spc="79" dirty="0">
                <a:solidFill>
                  <a:srgbClr val="FFFFFF"/>
                </a:solidFill>
                <a:latin typeface="윤고딕"/>
                <a:ea typeface="윤고딕"/>
                <a:cs typeface="윤고딕"/>
                <a:sym typeface="윤고딕"/>
              </a:rPr>
              <a:t>모작</a:t>
            </a:r>
            <a:endParaRPr lang="en-US" sz="3998" spc="79" dirty="0">
              <a:solidFill>
                <a:srgbClr val="FFFFFF"/>
              </a:solidFill>
              <a:latin typeface="윤고딕"/>
              <a:ea typeface="윤고딕"/>
              <a:cs typeface="윤고딕"/>
              <a:sym typeface="윤고딕"/>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212121"/>
        </a:solidFill>
        <a:effectLst/>
      </p:bgPr>
    </p:bg>
    <p:spTree>
      <p:nvGrpSpPr>
        <p:cNvPr id="1" name="">
          <a:extLst>
            <a:ext uri="{FF2B5EF4-FFF2-40B4-BE49-F238E27FC236}">
              <a16:creationId xmlns:a16="http://schemas.microsoft.com/office/drawing/2014/main" id="{59DAA7A7-1C17-9D05-AC25-8CD924B68F30}"/>
            </a:ext>
          </a:extLst>
        </p:cNvPr>
        <p:cNvGrpSpPr/>
        <p:nvPr/>
      </p:nvGrpSpPr>
      <p:grpSpPr>
        <a:xfrm>
          <a:off x="0" y="0"/>
          <a:ext cx="0" cy="0"/>
          <a:chOff x="0" y="0"/>
          <a:chExt cx="0" cy="0"/>
        </a:xfrm>
      </p:grpSpPr>
      <p:sp>
        <p:nvSpPr>
          <p:cNvPr id="4" name="TextBox 4">
            <a:extLst>
              <a:ext uri="{FF2B5EF4-FFF2-40B4-BE49-F238E27FC236}">
                <a16:creationId xmlns:a16="http://schemas.microsoft.com/office/drawing/2014/main" id="{99CB75E0-7022-BCDD-CB9D-5CDE1350D3E2}"/>
              </a:ext>
            </a:extLst>
          </p:cNvPr>
          <p:cNvSpPr txBox="1"/>
          <p:nvPr/>
        </p:nvSpPr>
        <p:spPr>
          <a:xfrm>
            <a:off x="1028700" y="771526"/>
            <a:ext cx="4364912" cy="264159"/>
          </a:xfrm>
          <a:prstGeom prst="rect">
            <a:avLst/>
          </a:prstGeom>
        </p:spPr>
        <p:txBody>
          <a:bodyPr lIns="0" tIns="0" rIns="0" bIns="0" rtlCol="0" anchor="t">
            <a:spAutoFit/>
          </a:bodyPr>
          <a:lstStyle/>
          <a:p>
            <a:pPr marL="0" lvl="0" indent="0" algn="l">
              <a:lnSpc>
                <a:spcPts val="2240"/>
              </a:lnSpc>
              <a:spcBef>
                <a:spcPct val="0"/>
              </a:spcBef>
            </a:pPr>
            <a:r>
              <a:rPr lang="en-US" sz="1600">
                <a:solidFill>
                  <a:srgbClr val="737373"/>
                </a:solidFill>
                <a:latin typeface="Alexandria Light"/>
                <a:ea typeface="Alexandria Light"/>
                <a:cs typeface="Alexandria Light"/>
                <a:sym typeface="Alexandria Light"/>
              </a:rPr>
              <a:t>PORTFOLIO</a:t>
            </a:r>
          </a:p>
        </p:txBody>
      </p:sp>
      <p:sp>
        <p:nvSpPr>
          <p:cNvPr id="6" name="TextBox 6">
            <a:extLst>
              <a:ext uri="{FF2B5EF4-FFF2-40B4-BE49-F238E27FC236}">
                <a16:creationId xmlns:a16="http://schemas.microsoft.com/office/drawing/2014/main" id="{A52C16F8-B75E-214B-DD2F-B216AC668F49}"/>
              </a:ext>
            </a:extLst>
          </p:cNvPr>
          <p:cNvSpPr txBox="1"/>
          <p:nvPr/>
        </p:nvSpPr>
        <p:spPr>
          <a:xfrm>
            <a:off x="1028700" y="1286970"/>
            <a:ext cx="5882762" cy="678199"/>
          </a:xfrm>
          <a:prstGeom prst="rect">
            <a:avLst/>
          </a:prstGeom>
        </p:spPr>
        <p:txBody>
          <a:bodyPr lIns="0" tIns="0" rIns="0" bIns="0" rtlCol="0" anchor="t">
            <a:spAutoFit/>
          </a:bodyPr>
          <a:lstStyle/>
          <a:p>
            <a:pPr algn="l">
              <a:lnSpc>
                <a:spcPts val="5837"/>
              </a:lnSpc>
            </a:pPr>
            <a:r>
              <a:rPr lang="en-US" sz="3998" spc="79" dirty="0" err="1">
                <a:solidFill>
                  <a:srgbClr val="FFFFFF"/>
                </a:solidFill>
                <a:latin typeface="윤고딕"/>
                <a:ea typeface="윤고딕"/>
                <a:cs typeface="윤고딕"/>
                <a:sym typeface="윤고딕"/>
              </a:rPr>
              <a:t>Skul</a:t>
            </a:r>
            <a:r>
              <a:rPr lang="en-US" sz="3998" spc="79" dirty="0">
                <a:solidFill>
                  <a:srgbClr val="FFFFFF"/>
                </a:solidFill>
                <a:latin typeface="윤고딕"/>
                <a:ea typeface="윤고딕"/>
                <a:cs typeface="윤고딕"/>
                <a:sym typeface="윤고딕"/>
              </a:rPr>
              <a:t> </a:t>
            </a:r>
            <a:r>
              <a:rPr lang="ko-KR" altLang="en-US" sz="3998" spc="79" dirty="0">
                <a:solidFill>
                  <a:srgbClr val="FFFFFF"/>
                </a:solidFill>
                <a:latin typeface="윤고딕"/>
                <a:ea typeface="윤고딕"/>
                <a:cs typeface="윤고딕"/>
                <a:sym typeface="윤고딕"/>
              </a:rPr>
              <a:t>모작</a:t>
            </a:r>
            <a:endParaRPr lang="en-US" sz="3998" spc="79" dirty="0">
              <a:solidFill>
                <a:srgbClr val="FFFFFF"/>
              </a:solidFill>
              <a:latin typeface="윤고딕"/>
              <a:ea typeface="윤고딕"/>
              <a:cs typeface="윤고딕"/>
              <a:sym typeface="윤고딕"/>
            </a:endParaRPr>
          </a:p>
        </p:txBody>
      </p:sp>
      <p:sp>
        <p:nvSpPr>
          <p:cNvPr id="8" name="TextBox 8">
            <a:extLst>
              <a:ext uri="{FF2B5EF4-FFF2-40B4-BE49-F238E27FC236}">
                <a16:creationId xmlns:a16="http://schemas.microsoft.com/office/drawing/2014/main" id="{6B0DD3B8-F0D7-94BC-47B6-DD19B590A5E5}"/>
              </a:ext>
            </a:extLst>
          </p:cNvPr>
          <p:cNvSpPr txBox="1"/>
          <p:nvPr/>
        </p:nvSpPr>
        <p:spPr>
          <a:xfrm>
            <a:off x="1042555" y="2310713"/>
            <a:ext cx="10347832" cy="350352"/>
          </a:xfrm>
          <a:prstGeom prst="rect">
            <a:avLst/>
          </a:prstGeom>
        </p:spPr>
        <p:txBody>
          <a:bodyPr lIns="0" tIns="0" rIns="0" bIns="0" rtlCol="0" anchor="t">
            <a:spAutoFit/>
          </a:bodyPr>
          <a:lstStyle/>
          <a:p>
            <a:pPr algn="just">
              <a:lnSpc>
                <a:spcPts val="2600"/>
              </a:lnSpc>
            </a:pPr>
            <a:r>
              <a:rPr lang="en-US" sz="3000" dirty="0">
                <a:solidFill>
                  <a:srgbClr val="FFFFFF"/>
                </a:solidFill>
                <a:latin typeface="윤고딕 Thin"/>
                <a:ea typeface="윤고딕 Thin"/>
                <a:cs typeface="윤고딕 Thin"/>
                <a:sym typeface="윤고딕 Thin"/>
              </a:rPr>
              <a:t>MVP</a:t>
            </a:r>
            <a:r>
              <a:rPr lang="ko-KR" altLang="en-US" sz="3000" dirty="0">
                <a:solidFill>
                  <a:srgbClr val="FFFFFF"/>
                </a:solidFill>
                <a:latin typeface="윤고딕 Thin"/>
                <a:ea typeface="윤고딕 Thin"/>
                <a:cs typeface="윤고딕 Thin"/>
                <a:sym typeface="윤고딕 Thin"/>
              </a:rPr>
              <a:t> 패턴을 활용한 관심사 분리</a:t>
            </a:r>
            <a:endParaRPr lang="en-US" sz="3000" dirty="0">
              <a:solidFill>
                <a:srgbClr val="FFFFFF"/>
              </a:solidFill>
              <a:latin typeface="윤고딕 Thin"/>
              <a:ea typeface="윤고딕 Thin"/>
              <a:cs typeface="윤고딕 Thin"/>
              <a:sym typeface="윤고딕 Thin"/>
            </a:endParaRPr>
          </a:p>
        </p:txBody>
      </p:sp>
      <p:sp>
        <p:nvSpPr>
          <p:cNvPr id="11" name="TextBox 8">
            <a:extLst>
              <a:ext uri="{FF2B5EF4-FFF2-40B4-BE49-F238E27FC236}">
                <a16:creationId xmlns:a16="http://schemas.microsoft.com/office/drawing/2014/main" id="{35D8D404-7B85-FDAD-69E6-562DFDAFB0F6}"/>
              </a:ext>
            </a:extLst>
          </p:cNvPr>
          <p:cNvSpPr txBox="1"/>
          <p:nvPr/>
        </p:nvSpPr>
        <p:spPr>
          <a:xfrm>
            <a:off x="2252375" y="9225377"/>
            <a:ext cx="1143000" cy="333617"/>
          </a:xfrm>
          <a:prstGeom prst="rect">
            <a:avLst/>
          </a:prstGeom>
        </p:spPr>
        <p:txBody>
          <a:bodyPr wrap="square" lIns="0" tIns="0" rIns="0" bIns="0" rtlCol="0" anchor="t">
            <a:spAutoFit/>
          </a:bodyPr>
          <a:lstStyle/>
          <a:p>
            <a:pPr algn="ctr">
              <a:lnSpc>
                <a:spcPts val="2600"/>
              </a:lnSpc>
            </a:pPr>
            <a:r>
              <a:rPr lang="en-US" sz="2500" dirty="0">
                <a:solidFill>
                  <a:srgbClr val="FFFFFF"/>
                </a:solidFill>
                <a:latin typeface="윤고딕 Thin"/>
                <a:ea typeface="윤고딕 Thin"/>
                <a:cs typeface="윤고딕 Thin"/>
                <a:sym typeface="윤고딕 Thin"/>
              </a:rPr>
              <a:t>Model</a:t>
            </a:r>
          </a:p>
        </p:txBody>
      </p:sp>
      <p:pic>
        <p:nvPicPr>
          <p:cNvPr id="17" name="그림 16">
            <a:extLst>
              <a:ext uri="{FF2B5EF4-FFF2-40B4-BE49-F238E27FC236}">
                <a16:creationId xmlns:a16="http://schemas.microsoft.com/office/drawing/2014/main" id="{9AC05EE9-1E95-62FB-5A92-C90B8E55922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902294" y="3770409"/>
            <a:ext cx="5716234" cy="5233812"/>
          </a:xfrm>
          <a:prstGeom prst="rect">
            <a:avLst/>
          </a:prstGeom>
        </p:spPr>
      </p:pic>
      <p:sp>
        <p:nvSpPr>
          <p:cNvPr id="18" name="TextBox 8">
            <a:extLst>
              <a:ext uri="{FF2B5EF4-FFF2-40B4-BE49-F238E27FC236}">
                <a16:creationId xmlns:a16="http://schemas.microsoft.com/office/drawing/2014/main" id="{00F9E9FD-6870-75D8-D3BA-57DC91881E46}"/>
              </a:ext>
            </a:extLst>
          </p:cNvPr>
          <p:cNvSpPr txBox="1"/>
          <p:nvPr/>
        </p:nvSpPr>
        <p:spPr>
          <a:xfrm>
            <a:off x="7979361" y="9325520"/>
            <a:ext cx="1562100" cy="333617"/>
          </a:xfrm>
          <a:prstGeom prst="rect">
            <a:avLst/>
          </a:prstGeom>
        </p:spPr>
        <p:txBody>
          <a:bodyPr wrap="square" lIns="0" tIns="0" rIns="0" bIns="0" rtlCol="0" anchor="t">
            <a:spAutoFit/>
          </a:bodyPr>
          <a:lstStyle/>
          <a:p>
            <a:pPr algn="ctr">
              <a:lnSpc>
                <a:spcPts val="2600"/>
              </a:lnSpc>
            </a:pPr>
            <a:r>
              <a:rPr lang="en-US" sz="2500" dirty="0">
                <a:solidFill>
                  <a:srgbClr val="FFFFFF"/>
                </a:solidFill>
                <a:latin typeface="윤고딕 Thin"/>
                <a:ea typeface="윤고딕 Thin"/>
                <a:cs typeface="윤고딕 Thin"/>
                <a:sym typeface="윤고딕 Thin"/>
              </a:rPr>
              <a:t>Presenter</a:t>
            </a:r>
          </a:p>
        </p:txBody>
      </p:sp>
      <p:pic>
        <p:nvPicPr>
          <p:cNvPr id="20" name="그림 19">
            <a:extLst>
              <a:ext uri="{FF2B5EF4-FFF2-40B4-BE49-F238E27FC236}">
                <a16:creationId xmlns:a16="http://schemas.microsoft.com/office/drawing/2014/main" id="{E3DE627A-EA62-8B7C-341B-42B0EDF57B9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2000760" y="3770409"/>
            <a:ext cx="5258534" cy="5125165"/>
          </a:xfrm>
          <a:prstGeom prst="rect">
            <a:avLst/>
          </a:prstGeom>
        </p:spPr>
      </p:pic>
      <p:sp>
        <p:nvSpPr>
          <p:cNvPr id="23" name="TextBox 8">
            <a:extLst>
              <a:ext uri="{FF2B5EF4-FFF2-40B4-BE49-F238E27FC236}">
                <a16:creationId xmlns:a16="http://schemas.microsoft.com/office/drawing/2014/main" id="{DF0961A2-4996-2666-8A27-A2348FE796C5}"/>
              </a:ext>
            </a:extLst>
          </p:cNvPr>
          <p:cNvSpPr txBox="1"/>
          <p:nvPr/>
        </p:nvSpPr>
        <p:spPr>
          <a:xfrm>
            <a:off x="14160083" y="9225377"/>
            <a:ext cx="1562100" cy="333617"/>
          </a:xfrm>
          <a:prstGeom prst="rect">
            <a:avLst/>
          </a:prstGeom>
        </p:spPr>
        <p:txBody>
          <a:bodyPr wrap="square" lIns="0" tIns="0" rIns="0" bIns="0" rtlCol="0" anchor="t">
            <a:spAutoFit/>
          </a:bodyPr>
          <a:lstStyle/>
          <a:p>
            <a:pPr algn="ctr">
              <a:lnSpc>
                <a:spcPts val="2600"/>
              </a:lnSpc>
            </a:pPr>
            <a:r>
              <a:rPr lang="en-US" sz="2500" dirty="0">
                <a:solidFill>
                  <a:srgbClr val="FFFFFF"/>
                </a:solidFill>
                <a:latin typeface="윤고딕 Thin"/>
                <a:ea typeface="윤고딕 Thin"/>
                <a:cs typeface="윤고딕 Thin"/>
                <a:sym typeface="윤고딕 Thin"/>
              </a:rPr>
              <a:t>View</a:t>
            </a:r>
          </a:p>
        </p:txBody>
      </p:sp>
      <p:pic>
        <p:nvPicPr>
          <p:cNvPr id="5" name="그림 4">
            <a:extLst>
              <a:ext uri="{FF2B5EF4-FFF2-40B4-BE49-F238E27FC236}">
                <a16:creationId xmlns:a16="http://schemas.microsoft.com/office/drawing/2014/main" id="{998E7DFC-6097-F40C-569F-5225C7ABB3C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79757" y="3787727"/>
            <a:ext cx="4488235" cy="5360498"/>
          </a:xfrm>
          <a:prstGeom prst="rect">
            <a:avLst/>
          </a:prstGeom>
        </p:spPr>
      </p:pic>
      <p:sp>
        <p:nvSpPr>
          <p:cNvPr id="7" name="TextBox 6">
            <a:extLst>
              <a:ext uri="{FF2B5EF4-FFF2-40B4-BE49-F238E27FC236}">
                <a16:creationId xmlns:a16="http://schemas.microsoft.com/office/drawing/2014/main" id="{E8C14E30-1A85-1BD5-4D9A-5FBB8897E096}"/>
              </a:ext>
            </a:extLst>
          </p:cNvPr>
          <p:cNvSpPr txBox="1"/>
          <p:nvPr/>
        </p:nvSpPr>
        <p:spPr>
          <a:xfrm>
            <a:off x="9839421" y="1641810"/>
            <a:ext cx="5882762" cy="678199"/>
          </a:xfrm>
          <a:prstGeom prst="rect">
            <a:avLst/>
          </a:prstGeom>
        </p:spPr>
        <p:txBody>
          <a:bodyPr lIns="0" tIns="0" rIns="0" bIns="0" rtlCol="0" anchor="t">
            <a:spAutoFit/>
          </a:bodyPr>
          <a:lstStyle/>
          <a:p>
            <a:pPr algn="l">
              <a:lnSpc>
                <a:spcPts val="5837"/>
              </a:lnSpc>
            </a:pPr>
            <a:r>
              <a:rPr lang="ko-KR" altLang="en-US" sz="3998" spc="79" dirty="0">
                <a:solidFill>
                  <a:srgbClr val="FFFFFF"/>
                </a:solidFill>
                <a:latin typeface="윤고딕"/>
                <a:ea typeface="윤고딕"/>
                <a:cs typeface="윤고딕"/>
                <a:sym typeface="윤고딕"/>
              </a:rPr>
              <a:t>설명</a:t>
            </a:r>
            <a:endParaRPr lang="en-US" altLang="ko-KR" sz="3998" spc="79" dirty="0">
              <a:solidFill>
                <a:srgbClr val="FFFFFF"/>
              </a:solidFill>
              <a:latin typeface="윤고딕"/>
              <a:ea typeface="윤고딕"/>
              <a:cs typeface="윤고딕"/>
              <a:sym typeface="윤고딕"/>
            </a:endParaRPr>
          </a:p>
        </p:txBody>
      </p:sp>
    </p:spTree>
    <p:extLst>
      <p:ext uri="{BB962C8B-B14F-4D97-AF65-F5344CB8AC3E}">
        <p14:creationId xmlns:p14="http://schemas.microsoft.com/office/powerpoint/2010/main" val="150616658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212121"/>
        </a:solidFill>
        <a:effectLst/>
      </p:bgPr>
    </p:bg>
    <p:spTree>
      <p:nvGrpSpPr>
        <p:cNvPr id="1" name="">
          <a:extLst>
            <a:ext uri="{FF2B5EF4-FFF2-40B4-BE49-F238E27FC236}">
              <a16:creationId xmlns:a16="http://schemas.microsoft.com/office/drawing/2014/main" id="{0F5BBCD5-18BF-2721-AACB-EC8204E1EC8F}"/>
            </a:ext>
          </a:extLst>
        </p:cNvPr>
        <p:cNvGrpSpPr/>
        <p:nvPr/>
      </p:nvGrpSpPr>
      <p:grpSpPr>
        <a:xfrm>
          <a:off x="0" y="0"/>
          <a:ext cx="0" cy="0"/>
          <a:chOff x="0" y="0"/>
          <a:chExt cx="0" cy="0"/>
        </a:xfrm>
      </p:grpSpPr>
      <p:sp>
        <p:nvSpPr>
          <p:cNvPr id="4" name="TextBox 4">
            <a:extLst>
              <a:ext uri="{FF2B5EF4-FFF2-40B4-BE49-F238E27FC236}">
                <a16:creationId xmlns:a16="http://schemas.microsoft.com/office/drawing/2014/main" id="{FC03CCE5-2C05-7020-E0D1-9B8F23116F2A}"/>
              </a:ext>
            </a:extLst>
          </p:cNvPr>
          <p:cNvSpPr txBox="1"/>
          <p:nvPr/>
        </p:nvSpPr>
        <p:spPr>
          <a:xfrm>
            <a:off x="1028700" y="771526"/>
            <a:ext cx="4364912" cy="264159"/>
          </a:xfrm>
          <a:prstGeom prst="rect">
            <a:avLst/>
          </a:prstGeom>
        </p:spPr>
        <p:txBody>
          <a:bodyPr lIns="0" tIns="0" rIns="0" bIns="0" rtlCol="0" anchor="t">
            <a:spAutoFit/>
          </a:bodyPr>
          <a:lstStyle/>
          <a:p>
            <a:pPr marL="0" lvl="0" indent="0" algn="l">
              <a:lnSpc>
                <a:spcPts val="2240"/>
              </a:lnSpc>
              <a:spcBef>
                <a:spcPct val="0"/>
              </a:spcBef>
            </a:pPr>
            <a:r>
              <a:rPr lang="en-US" sz="1600">
                <a:solidFill>
                  <a:srgbClr val="737373"/>
                </a:solidFill>
                <a:latin typeface="Alexandria Light"/>
                <a:ea typeface="Alexandria Light"/>
                <a:cs typeface="Alexandria Light"/>
                <a:sym typeface="Alexandria Light"/>
              </a:rPr>
              <a:t>PORTFOLIO</a:t>
            </a:r>
          </a:p>
        </p:txBody>
      </p:sp>
      <p:sp>
        <p:nvSpPr>
          <p:cNvPr id="6" name="TextBox 6">
            <a:extLst>
              <a:ext uri="{FF2B5EF4-FFF2-40B4-BE49-F238E27FC236}">
                <a16:creationId xmlns:a16="http://schemas.microsoft.com/office/drawing/2014/main" id="{6C2E3548-05D6-D4D2-DD4F-EF02E4C94A7F}"/>
              </a:ext>
            </a:extLst>
          </p:cNvPr>
          <p:cNvSpPr txBox="1"/>
          <p:nvPr/>
        </p:nvSpPr>
        <p:spPr>
          <a:xfrm>
            <a:off x="1028700" y="1286970"/>
            <a:ext cx="5882762" cy="678199"/>
          </a:xfrm>
          <a:prstGeom prst="rect">
            <a:avLst/>
          </a:prstGeom>
        </p:spPr>
        <p:txBody>
          <a:bodyPr lIns="0" tIns="0" rIns="0" bIns="0" rtlCol="0" anchor="t">
            <a:spAutoFit/>
          </a:bodyPr>
          <a:lstStyle/>
          <a:p>
            <a:pPr algn="l">
              <a:lnSpc>
                <a:spcPts val="5837"/>
              </a:lnSpc>
            </a:pPr>
            <a:r>
              <a:rPr lang="en-US" sz="3998" spc="79" dirty="0" err="1">
                <a:solidFill>
                  <a:srgbClr val="FFFFFF"/>
                </a:solidFill>
                <a:latin typeface="윤고딕"/>
                <a:ea typeface="윤고딕"/>
                <a:cs typeface="윤고딕"/>
                <a:sym typeface="윤고딕"/>
              </a:rPr>
              <a:t>Skul</a:t>
            </a:r>
            <a:r>
              <a:rPr lang="en-US" sz="3998" spc="79" dirty="0">
                <a:solidFill>
                  <a:srgbClr val="FFFFFF"/>
                </a:solidFill>
                <a:latin typeface="윤고딕"/>
                <a:ea typeface="윤고딕"/>
                <a:cs typeface="윤고딕"/>
                <a:sym typeface="윤고딕"/>
              </a:rPr>
              <a:t> </a:t>
            </a:r>
            <a:r>
              <a:rPr lang="ko-KR" altLang="en-US" sz="3998" spc="79" dirty="0">
                <a:solidFill>
                  <a:srgbClr val="FFFFFF"/>
                </a:solidFill>
                <a:latin typeface="윤고딕"/>
                <a:ea typeface="윤고딕"/>
                <a:cs typeface="윤고딕"/>
                <a:sym typeface="윤고딕"/>
              </a:rPr>
              <a:t>모작</a:t>
            </a:r>
            <a:endParaRPr lang="en-US" sz="3998" spc="79" dirty="0">
              <a:solidFill>
                <a:srgbClr val="FFFFFF"/>
              </a:solidFill>
              <a:latin typeface="윤고딕"/>
              <a:ea typeface="윤고딕"/>
              <a:cs typeface="윤고딕"/>
              <a:sym typeface="윤고딕"/>
            </a:endParaRPr>
          </a:p>
        </p:txBody>
      </p:sp>
      <p:sp>
        <p:nvSpPr>
          <p:cNvPr id="8" name="TextBox 8">
            <a:extLst>
              <a:ext uri="{FF2B5EF4-FFF2-40B4-BE49-F238E27FC236}">
                <a16:creationId xmlns:a16="http://schemas.microsoft.com/office/drawing/2014/main" id="{57C45855-3242-1622-D2E2-C2EE70B2551D}"/>
              </a:ext>
            </a:extLst>
          </p:cNvPr>
          <p:cNvSpPr txBox="1"/>
          <p:nvPr/>
        </p:nvSpPr>
        <p:spPr>
          <a:xfrm>
            <a:off x="1028700" y="2319112"/>
            <a:ext cx="10347832" cy="350352"/>
          </a:xfrm>
          <a:prstGeom prst="rect">
            <a:avLst/>
          </a:prstGeom>
        </p:spPr>
        <p:txBody>
          <a:bodyPr lIns="0" tIns="0" rIns="0" bIns="0" rtlCol="0" anchor="t">
            <a:spAutoFit/>
          </a:bodyPr>
          <a:lstStyle/>
          <a:p>
            <a:pPr algn="just">
              <a:lnSpc>
                <a:spcPts val="2600"/>
              </a:lnSpc>
            </a:pPr>
            <a:r>
              <a:rPr lang="ko-KR" altLang="en-US" sz="3000" dirty="0">
                <a:solidFill>
                  <a:srgbClr val="FFFFFF"/>
                </a:solidFill>
                <a:latin typeface="윤고딕 Thin"/>
                <a:ea typeface="윤고딕 Thin"/>
                <a:cs typeface="윤고딕 Thin"/>
                <a:sym typeface="윤고딕 Thin"/>
              </a:rPr>
              <a:t>캐릭터 </a:t>
            </a:r>
            <a:r>
              <a:rPr lang="ko-KR" altLang="en-US" sz="3000" dirty="0" err="1">
                <a:solidFill>
                  <a:srgbClr val="FFFFFF"/>
                </a:solidFill>
                <a:latin typeface="윤고딕 Thin"/>
                <a:ea typeface="윤고딕 Thin"/>
                <a:cs typeface="윤고딕 Thin"/>
                <a:sym typeface="윤고딕 Thin"/>
              </a:rPr>
              <a:t>스텟</a:t>
            </a:r>
            <a:r>
              <a:rPr lang="ko-KR" altLang="en-US" sz="3000" dirty="0">
                <a:solidFill>
                  <a:srgbClr val="FFFFFF"/>
                </a:solidFill>
                <a:latin typeface="윤고딕 Thin"/>
                <a:ea typeface="윤고딕 Thin"/>
                <a:cs typeface="윤고딕 Thin"/>
                <a:sym typeface="윤고딕 Thin"/>
              </a:rPr>
              <a:t> 데이터 관리</a:t>
            </a:r>
            <a:endParaRPr lang="en-US" altLang="ko-KR" sz="3000" dirty="0">
              <a:solidFill>
                <a:srgbClr val="FFFFFF"/>
              </a:solidFill>
              <a:latin typeface="윤고딕 Thin"/>
              <a:ea typeface="윤고딕 Thin"/>
              <a:cs typeface="윤고딕 Thin"/>
              <a:sym typeface="윤고딕 Thin"/>
            </a:endParaRPr>
          </a:p>
        </p:txBody>
      </p:sp>
      <p:pic>
        <p:nvPicPr>
          <p:cNvPr id="7" name="그림 6">
            <a:extLst>
              <a:ext uri="{FF2B5EF4-FFF2-40B4-BE49-F238E27FC236}">
                <a16:creationId xmlns:a16="http://schemas.microsoft.com/office/drawing/2014/main" id="{9A3C0632-712B-9320-4755-3AAF40056BE9}"/>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042302" y="1712146"/>
            <a:ext cx="1218858" cy="1218858"/>
          </a:xfrm>
          <a:prstGeom prst="rect">
            <a:avLst/>
          </a:prstGeom>
        </p:spPr>
      </p:pic>
      <p:sp>
        <p:nvSpPr>
          <p:cNvPr id="11" name="화살표: 아래쪽 10">
            <a:extLst>
              <a:ext uri="{FF2B5EF4-FFF2-40B4-BE49-F238E27FC236}">
                <a16:creationId xmlns:a16="http://schemas.microsoft.com/office/drawing/2014/main" id="{C8D68898-C4C5-2EB8-F4DC-792CB1B1A5B0}"/>
              </a:ext>
            </a:extLst>
          </p:cNvPr>
          <p:cNvSpPr/>
          <p:nvPr/>
        </p:nvSpPr>
        <p:spPr>
          <a:xfrm rot="16200000">
            <a:off x="6863196" y="1655174"/>
            <a:ext cx="838200" cy="1458191"/>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15" name="그림 14">
            <a:extLst>
              <a:ext uri="{FF2B5EF4-FFF2-40B4-BE49-F238E27FC236}">
                <a16:creationId xmlns:a16="http://schemas.microsoft.com/office/drawing/2014/main" id="{82D32E8D-92B5-F2B9-0184-9B4D19770773}"/>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303432" y="1794584"/>
            <a:ext cx="1179370" cy="1179370"/>
          </a:xfrm>
          <a:prstGeom prst="rect">
            <a:avLst/>
          </a:prstGeom>
        </p:spPr>
      </p:pic>
      <p:sp>
        <p:nvSpPr>
          <p:cNvPr id="20" name="TextBox 8">
            <a:extLst>
              <a:ext uri="{FF2B5EF4-FFF2-40B4-BE49-F238E27FC236}">
                <a16:creationId xmlns:a16="http://schemas.microsoft.com/office/drawing/2014/main" id="{1AC9962D-D625-4C3F-9E61-E4D7389C1932}"/>
              </a:ext>
            </a:extLst>
          </p:cNvPr>
          <p:cNvSpPr txBox="1"/>
          <p:nvPr/>
        </p:nvSpPr>
        <p:spPr>
          <a:xfrm>
            <a:off x="5097719" y="3060123"/>
            <a:ext cx="1143000" cy="333617"/>
          </a:xfrm>
          <a:prstGeom prst="rect">
            <a:avLst/>
          </a:prstGeom>
        </p:spPr>
        <p:txBody>
          <a:bodyPr wrap="square" lIns="0" tIns="0" rIns="0" bIns="0" rtlCol="0" anchor="t">
            <a:spAutoFit/>
          </a:bodyPr>
          <a:lstStyle/>
          <a:p>
            <a:pPr algn="ctr">
              <a:lnSpc>
                <a:spcPts val="2600"/>
              </a:lnSpc>
            </a:pPr>
            <a:r>
              <a:rPr lang="en-US" sz="2500" dirty="0">
                <a:solidFill>
                  <a:srgbClr val="FFFFFF"/>
                </a:solidFill>
                <a:latin typeface="윤고딕 Thin"/>
                <a:ea typeface="윤고딕 Thin"/>
                <a:cs typeface="윤고딕 Thin"/>
                <a:sym typeface="윤고딕 Thin"/>
              </a:rPr>
              <a:t>CSV</a:t>
            </a:r>
          </a:p>
        </p:txBody>
      </p:sp>
      <p:sp>
        <p:nvSpPr>
          <p:cNvPr id="21" name="TextBox 8">
            <a:extLst>
              <a:ext uri="{FF2B5EF4-FFF2-40B4-BE49-F238E27FC236}">
                <a16:creationId xmlns:a16="http://schemas.microsoft.com/office/drawing/2014/main" id="{7418F8D7-C2B1-712D-AE03-E3D7D00D4A97}"/>
              </a:ext>
            </a:extLst>
          </p:cNvPr>
          <p:cNvSpPr txBox="1"/>
          <p:nvPr/>
        </p:nvSpPr>
        <p:spPr>
          <a:xfrm>
            <a:off x="8291922" y="3070514"/>
            <a:ext cx="1143000" cy="333617"/>
          </a:xfrm>
          <a:prstGeom prst="rect">
            <a:avLst/>
          </a:prstGeom>
        </p:spPr>
        <p:txBody>
          <a:bodyPr wrap="square" lIns="0" tIns="0" rIns="0" bIns="0" rtlCol="0" anchor="t">
            <a:spAutoFit/>
          </a:bodyPr>
          <a:lstStyle/>
          <a:p>
            <a:pPr algn="ctr">
              <a:lnSpc>
                <a:spcPts val="2600"/>
              </a:lnSpc>
            </a:pPr>
            <a:r>
              <a:rPr lang="en-US" sz="2500" dirty="0">
                <a:solidFill>
                  <a:srgbClr val="FFFFFF"/>
                </a:solidFill>
                <a:latin typeface="윤고딕 Thin"/>
                <a:ea typeface="윤고딕 Thin"/>
                <a:cs typeface="윤고딕 Thin"/>
                <a:sym typeface="윤고딕 Thin"/>
              </a:rPr>
              <a:t>JSON</a:t>
            </a:r>
          </a:p>
        </p:txBody>
      </p:sp>
      <p:pic>
        <p:nvPicPr>
          <p:cNvPr id="25" name="그림 24">
            <a:extLst>
              <a:ext uri="{FF2B5EF4-FFF2-40B4-BE49-F238E27FC236}">
                <a16:creationId xmlns:a16="http://schemas.microsoft.com/office/drawing/2014/main" id="{66F4E617-2B5F-14EA-4B89-AB504098D07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902481" y="774990"/>
            <a:ext cx="6649315" cy="5503369"/>
          </a:xfrm>
          <a:prstGeom prst="rect">
            <a:avLst/>
          </a:prstGeom>
        </p:spPr>
      </p:pic>
      <p:pic>
        <p:nvPicPr>
          <p:cNvPr id="27" name="그림 26">
            <a:extLst>
              <a:ext uri="{FF2B5EF4-FFF2-40B4-BE49-F238E27FC236}">
                <a16:creationId xmlns:a16="http://schemas.microsoft.com/office/drawing/2014/main" id="{3AE8B57A-FDEA-FE68-50D4-838727DCB18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909408" y="6632302"/>
            <a:ext cx="6792191" cy="3270829"/>
          </a:xfrm>
          <a:prstGeom prst="rect">
            <a:avLst/>
          </a:prstGeom>
        </p:spPr>
      </p:pic>
      <p:sp>
        <p:nvSpPr>
          <p:cNvPr id="28" name="TextBox 6">
            <a:extLst>
              <a:ext uri="{FF2B5EF4-FFF2-40B4-BE49-F238E27FC236}">
                <a16:creationId xmlns:a16="http://schemas.microsoft.com/office/drawing/2014/main" id="{EBED1FBE-D9AA-1FFB-DC3F-332723AD3CE2}"/>
              </a:ext>
            </a:extLst>
          </p:cNvPr>
          <p:cNvSpPr txBox="1"/>
          <p:nvPr/>
        </p:nvSpPr>
        <p:spPr>
          <a:xfrm>
            <a:off x="2100921" y="5562060"/>
            <a:ext cx="5882762" cy="678199"/>
          </a:xfrm>
          <a:prstGeom prst="rect">
            <a:avLst/>
          </a:prstGeom>
        </p:spPr>
        <p:txBody>
          <a:bodyPr lIns="0" tIns="0" rIns="0" bIns="0" rtlCol="0" anchor="t">
            <a:spAutoFit/>
          </a:bodyPr>
          <a:lstStyle/>
          <a:p>
            <a:pPr algn="l">
              <a:lnSpc>
                <a:spcPts val="5837"/>
              </a:lnSpc>
            </a:pPr>
            <a:r>
              <a:rPr lang="ko-KR" altLang="en-US" sz="3998" spc="79" dirty="0">
                <a:solidFill>
                  <a:srgbClr val="FFFFFF"/>
                </a:solidFill>
                <a:latin typeface="윤고딕"/>
                <a:ea typeface="윤고딕"/>
                <a:cs typeface="윤고딕"/>
                <a:sym typeface="윤고딕"/>
              </a:rPr>
              <a:t>설명</a:t>
            </a:r>
            <a:endParaRPr lang="en-US" altLang="ko-KR" sz="3998" spc="79" dirty="0">
              <a:solidFill>
                <a:srgbClr val="FFFFFF"/>
              </a:solidFill>
              <a:latin typeface="윤고딕"/>
              <a:ea typeface="윤고딕"/>
              <a:cs typeface="윤고딕"/>
              <a:sym typeface="윤고딕"/>
            </a:endParaRPr>
          </a:p>
        </p:txBody>
      </p:sp>
    </p:spTree>
    <p:extLst>
      <p:ext uri="{BB962C8B-B14F-4D97-AF65-F5344CB8AC3E}">
        <p14:creationId xmlns:p14="http://schemas.microsoft.com/office/powerpoint/2010/main" val="424155001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212121"/>
        </a:solidFill>
        <a:effectLst/>
      </p:bgPr>
    </p:bg>
    <p:spTree>
      <p:nvGrpSpPr>
        <p:cNvPr id="1" name="">
          <a:extLst>
            <a:ext uri="{FF2B5EF4-FFF2-40B4-BE49-F238E27FC236}">
              <a16:creationId xmlns:a16="http://schemas.microsoft.com/office/drawing/2014/main" id="{A36E7066-D78E-803D-6C70-3B64FB5CA3D0}"/>
            </a:ext>
          </a:extLst>
        </p:cNvPr>
        <p:cNvGrpSpPr/>
        <p:nvPr/>
      </p:nvGrpSpPr>
      <p:grpSpPr>
        <a:xfrm>
          <a:off x="0" y="0"/>
          <a:ext cx="0" cy="0"/>
          <a:chOff x="0" y="0"/>
          <a:chExt cx="0" cy="0"/>
        </a:xfrm>
      </p:grpSpPr>
      <p:sp>
        <p:nvSpPr>
          <p:cNvPr id="4" name="TextBox 4">
            <a:extLst>
              <a:ext uri="{FF2B5EF4-FFF2-40B4-BE49-F238E27FC236}">
                <a16:creationId xmlns:a16="http://schemas.microsoft.com/office/drawing/2014/main" id="{7C20B27F-381C-01AF-3E50-CED212E81403}"/>
              </a:ext>
            </a:extLst>
          </p:cNvPr>
          <p:cNvSpPr txBox="1"/>
          <p:nvPr/>
        </p:nvSpPr>
        <p:spPr>
          <a:xfrm>
            <a:off x="1028700" y="771526"/>
            <a:ext cx="4364912" cy="264159"/>
          </a:xfrm>
          <a:prstGeom prst="rect">
            <a:avLst/>
          </a:prstGeom>
        </p:spPr>
        <p:txBody>
          <a:bodyPr lIns="0" tIns="0" rIns="0" bIns="0" rtlCol="0" anchor="t">
            <a:spAutoFit/>
          </a:bodyPr>
          <a:lstStyle/>
          <a:p>
            <a:pPr marL="0" lvl="0" indent="0" algn="l">
              <a:lnSpc>
                <a:spcPts val="2240"/>
              </a:lnSpc>
              <a:spcBef>
                <a:spcPct val="0"/>
              </a:spcBef>
            </a:pPr>
            <a:r>
              <a:rPr lang="en-US" sz="1600">
                <a:solidFill>
                  <a:srgbClr val="737373"/>
                </a:solidFill>
                <a:latin typeface="Alexandria Light"/>
                <a:ea typeface="Alexandria Light"/>
                <a:cs typeface="Alexandria Light"/>
                <a:sym typeface="Alexandria Light"/>
              </a:rPr>
              <a:t>PORTFOLIO</a:t>
            </a:r>
          </a:p>
        </p:txBody>
      </p:sp>
      <p:sp>
        <p:nvSpPr>
          <p:cNvPr id="6" name="TextBox 6">
            <a:extLst>
              <a:ext uri="{FF2B5EF4-FFF2-40B4-BE49-F238E27FC236}">
                <a16:creationId xmlns:a16="http://schemas.microsoft.com/office/drawing/2014/main" id="{D0D4F019-54B1-AA3B-C271-7F2827C30C02}"/>
              </a:ext>
            </a:extLst>
          </p:cNvPr>
          <p:cNvSpPr txBox="1"/>
          <p:nvPr/>
        </p:nvSpPr>
        <p:spPr>
          <a:xfrm>
            <a:off x="1028700" y="1286970"/>
            <a:ext cx="5882762" cy="678199"/>
          </a:xfrm>
          <a:prstGeom prst="rect">
            <a:avLst/>
          </a:prstGeom>
        </p:spPr>
        <p:txBody>
          <a:bodyPr lIns="0" tIns="0" rIns="0" bIns="0" rtlCol="0" anchor="t">
            <a:spAutoFit/>
          </a:bodyPr>
          <a:lstStyle/>
          <a:p>
            <a:pPr algn="l">
              <a:lnSpc>
                <a:spcPts val="5837"/>
              </a:lnSpc>
            </a:pPr>
            <a:r>
              <a:rPr lang="en-US" sz="3998" spc="79" dirty="0" err="1">
                <a:solidFill>
                  <a:srgbClr val="FFFFFF"/>
                </a:solidFill>
                <a:latin typeface="윤고딕"/>
                <a:ea typeface="윤고딕"/>
                <a:cs typeface="윤고딕"/>
                <a:sym typeface="윤고딕"/>
              </a:rPr>
              <a:t>Skul</a:t>
            </a:r>
            <a:r>
              <a:rPr lang="en-US" sz="3998" spc="79" dirty="0">
                <a:solidFill>
                  <a:srgbClr val="FFFFFF"/>
                </a:solidFill>
                <a:latin typeface="윤고딕"/>
                <a:ea typeface="윤고딕"/>
                <a:cs typeface="윤고딕"/>
                <a:sym typeface="윤고딕"/>
              </a:rPr>
              <a:t> </a:t>
            </a:r>
            <a:r>
              <a:rPr lang="ko-KR" altLang="en-US" sz="3998" spc="79" dirty="0">
                <a:solidFill>
                  <a:srgbClr val="FFFFFF"/>
                </a:solidFill>
                <a:latin typeface="윤고딕"/>
                <a:ea typeface="윤고딕"/>
                <a:cs typeface="윤고딕"/>
                <a:sym typeface="윤고딕"/>
              </a:rPr>
              <a:t>모작</a:t>
            </a:r>
            <a:endParaRPr lang="en-US" sz="3998" spc="79" dirty="0">
              <a:solidFill>
                <a:srgbClr val="FFFFFF"/>
              </a:solidFill>
              <a:latin typeface="윤고딕"/>
              <a:ea typeface="윤고딕"/>
              <a:cs typeface="윤고딕"/>
              <a:sym typeface="윤고딕"/>
            </a:endParaRPr>
          </a:p>
        </p:txBody>
      </p:sp>
      <p:sp>
        <p:nvSpPr>
          <p:cNvPr id="8" name="TextBox 8">
            <a:extLst>
              <a:ext uri="{FF2B5EF4-FFF2-40B4-BE49-F238E27FC236}">
                <a16:creationId xmlns:a16="http://schemas.microsoft.com/office/drawing/2014/main" id="{AAD0B3B4-DF24-EDAF-0D98-B62EA8D2CA86}"/>
              </a:ext>
            </a:extLst>
          </p:cNvPr>
          <p:cNvSpPr txBox="1"/>
          <p:nvPr/>
        </p:nvSpPr>
        <p:spPr>
          <a:xfrm>
            <a:off x="1028700" y="2400300"/>
            <a:ext cx="10347832" cy="350352"/>
          </a:xfrm>
          <a:prstGeom prst="rect">
            <a:avLst/>
          </a:prstGeom>
        </p:spPr>
        <p:txBody>
          <a:bodyPr lIns="0" tIns="0" rIns="0" bIns="0" rtlCol="0" anchor="t">
            <a:spAutoFit/>
          </a:bodyPr>
          <a:lstStyle/>
          <a:p>
            <a:pPr algn="just">
              <a:lnSpc>
                <a:spcPts val="2600"/>
              </a:lnSpc>
            </a:pPr>
            <a:r>
              <a:rPr lang="ko-KR" altLang="en-US" sz="3000" dirty="0">
                <a:solidFill>
                  <a:srgbClr val="FFFFFF"/>
                </a:solidFill>
                <a:latin typeface="윤고딕 Thin"/>
                <a:ea typeface="윤고딕 Thin"/>
                <a:cs typeface="윤고딕 Thin"/>
                <a:sym typeface="윤고딕 Thin"/>
              </a:rPr>
              <a:t>스테이지 데이터 관리</a:t>
            </a:r>
            <a:endParaRPr lang="en-US" altLang="ko-KR" sz="3000" dirty="0">
              <a:solidFill>
                <a:srgbClr val="FFFFFF"/>
              </a:solidFill>
              <a:latin typeface="윤고딕 Thin"/>
              <a:ea typeface="윤고딕 Thin"/>
              <a:cs typeface="윤고딕 Thin"/>
              <a:sym typeface="윤고딕 Thin"/>
            </a:endParaRPr>
          </a:p>
        </p:txBody>
      </p:sp>
      <p:pic>
        <p:nvPicPr>
          <p:cNvPr id="3" name="그림 2">
            <a:extLst>
              <a:ext uri="{FF2B5EF4-FFF2-40B4-BE49-F238E27FC236}">
                <a16:creationId xmlns:a16="http://schemas.microsoft.com/office/drawing/2014/main" id="{84164AAC-6E8E-B661-3F45-0F72B25E679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713915" y="140424"/>
            <a:ext cx="5427257" cy="3158720"/>
          </a:xfrm>
          <a:prstGeom prst="rect">
            <a:avLst/>
          </a:prstGeom>
        </p:spPr>
      </p:pic>
      <p:pic>
        <p:nvPicPr>
          <p:cNvPr id="7" name="그림 6">
            <a:extLst>
              <a:ext uri="{FF2B5EF4-FFF2-40B4-BE49-F238E27FC236}">
                <a16:creationId xmlns:a16="http://schemas.microsoft.com/office/drawing/2014/main" id="{AC6AE539-05D8-7899-1286-DA964646C12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713915" y="3549779"/>
            <a:ext cx="5498630" cy="5965695"/>
          </a:xfrm>
          <a:prstGeom prst="rect">
            <a:avLst/>
          </a:prstGeom>
        </p:spPr>
      </p:pic>
      <p:pic>
        <p:nvPicPr>
          <p:cNvPr id="10" name="그림 9">
            <a:extLst>
              <a:ext uri="{FF2B5EF4-FFF2-40B4-BE49-F238E27FC236}">
                <a16:creationId xmlns:a16="http://schemas.microsoft.com/office/drawing/2014/main" id="{EA44F267-6747-CC19-C747-C29096536CD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305159" y="140424"/>
            <a:ext cx="5837613" cy="4719591"/>
          </a:xfrm>
          <a:prstGeom prst="rect">
            <a:avLst/>
          </a:prstGeom>
        </p:spPr>
      </p:pic>
      <p:pic>
        <p:nvPicPr>
          <p:cNvPr id="12" name="그림 11">
            <a:extLst>
              <a:ext uri="{FF2B5EF4-FFF2-40B4-BE49-F238E27FC236}">
                <a16:creationId xmlns:a16="http://schemas.microsoft.com/office/drawing/2014/main" id="{F7B1FFCE-B75F-99E6-A0A9-E8D3CA0EED0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1376532" y="4698809"/>
            <a:ext cx="6388146" cy="5181600"/>
          </a:xfrm>
          <a:prstGeom prst="rect">
            <a:avLst/>
          </a:prstGeom>
        </p:spPr>
      </p:pic>
      <p:sp>
        <p:nvSpPr>
          <p:cNvPr id="13" name="TextBox 6">
            <a:extLst>
              <a:ext uri="{FF2B5EF4-FFF2-40B4-BE49-F238E27FC236}">
                <a16:creationId xmlns:a16="http://schemas.microsoft.com/office/drawing/2014/main" id="{55B56854-01D0-CFFF-2900-13437AEEF98D}"/>
              </a:ext>
            </a:extLst>
          </p:cNvPr>
          <p:cNvSpPr txBox="1"/>
          <p:nvPr/>
        </p:nvSpPr>
        <p:spPr>
          <a:xfrm>
            <a:off x="10551221" y="1156332"/>
            <a:ext cx="457200" cy="678199"/>
          </a:xfrm>
          <a:prstGeom prst="rect">
            <a:avLst/>
          </a:prstGeom>
        </p:spPr>
        <p:txBody>
          <a:bodyPr wrap="square" lIns="0" tIns="0" rIns="0" bIns="0" rtlCol="0" anchor="t">
            <a:spAutoFit/>
          </a:bodyPr>
          <a:lstStyle/>
          <a:p>
            <a:pPr algn="l">
              <a:lnSpc>
                <a:spcPts val="5837"/>
              </a:lnSpc>
            </a:pPr>
            <a:r>
              <a:rPr lang="en-US" altLang="ko-KR" sz="3998" spc="79" dirty="0">
                <a:solidFill>
                  <a:srgbClr val="FFFFFF"/>
                </a:solidFill>
                <a:latin typeface="윤고딕"/>
                <a:ea typeface="윤고딕"/>
                <a:cs typeface="윤고딕"/>
                <a:sym typeface="윤고딕"/>
              </a:rPr>
              <a:t>1</a:t>
            </a:r>
          </a:p>
        </p:txBody>
      </p:sp>
      <p:sp>
        <p:nvSpPr>
          <p:cNvPr id="14" name="TextBox 6">
            <a:extLst>
              <a:ext uri="{FF2B5EF4-FFF2-40B4-BE49-F238E27FC236}">
                <a16:creationId xmlns:a16="http://schemas.microsoft.com/office/drawing/2014/main" id="{9A482DCC-1EB1-2F00-619C-950593227546}"/>
              </a:ext>
            </a:extLst>
          </p:cNvPr>
          <p:cNvSpPr txBox="1"/>
          <p:nvPr/>
        </p:nvSpPr>
        <p:spPr>
          <a:xfrm>
            <a:off x="1332264" y="4038345"/>
            <a:ext cx="5882762" cy="678199"/>
          </a:xfrm>
          <a:prstGeom prst="rect">
            <a:avLst/>
          </a:prstGeom>
        </p:spPr>
        <p:txBody>
          <a:bodyPr lIns="0" tIns="0" rIns="0" bIns="0" rtlCol="0" anchor="t">
            <a:spAutoFit/>
          </a:bodyPr>
          <a:lstStyle/>
          <a:p>
            <a:pPr algn="l">
              <a:lnSpc>
                <a:spcPts val="5837"/>
              </a:lnSpc>
            </a:pPr>
            <a:r>
              <a:rPr lang="ko-KR" altLang="en-US" sz="3998" spc="79" dirty="0">
                <a:solidFill>
                  <a:srgbClr val="FFFFFF"/>
                </a:solidFill>
                <a:latin typeface="윤고딕"/>
                <a:ea typeface="윤고딕"/>
                <a:cs typeface="윤고딕"/>
                <a:sym typeface="윤고딕"/>
              </a:rPr>
              <a:t>설명</a:t>
            </a:r>
            <a:endParaRPr lang="en-US" altLang="ko-KR" sz="3998" spc="79" dirty="0">
              <a:solidFill>
                <a:srgbClr val="FFFFFF"/>
              </a:solidFill>
              <a:latin typeface="윤고딕"/>
              <a:ea typeface="윤고딕"/>
              <a:cs typeface="윤고딕"/>
              <a:sym typeface="윤고딕"/>
            </a:endParaRPr>
          </a:p>
        </p:txBody>
      </p:sp>
      <p:sp>
        <p:nvSpPr>
          <p:cNvPr id="15" name="TextBox 6">
            <a:extLst>
              <a:ext uri="{FF2B5EF4-FFF2-40B4-BE49-F238E27FC236}">
                <a16:creationId xmlns:a16="http://schemas.microsoft.com/office/drawing/2014/main" id="{4B66673B-2CD8-EC9C-74D2-711FFE84229B}"/>
              </a:ext>
            </a:extLst>
          </p:cNvPr>
          <p:cNvSpPr txBox="1"/>
          <p:nvPr/>
        </p:nvSpPr>
        <p:spPr>
          <a:xfrm>
            <a:off x="16076444" y="1035685"/>
            <a:ext cx="457200" cy="678199"/>
          </a:xfrm>
          <a:prstGeom prst="rect">
            <a:avLst/>
          </a:prstGeom>
        </p:spPr>
        <p:txBody>
          <a:bodyPr wrap="square" lIns="0" tIns="0" rIns="0" bIns="0" rtlCol="0" anchor="t">
            <a:spAutoFit/>
          </a:bodyPr>
          <a:lstStyle/>
          <a:p>
            <a:pPr algn="l">
              <a:lnSpc>
                <a:spcPts val="5837"/>
              </a:lnSpc>
            </a:pPr>
            <a:r>
              <a:rPr lang="en-US" altLang="ko-KR" sz="3998" spc="79" dirty="0">
                <a:solidFill>
                  <a:srgbClr val="FFFFFF"/>
                </a:solidFill>
                <a:latin typeface="윤고딕"/>
                <a:ea typeface="윤고딕"/>
                <a:cs typeface="윤고딕"/>
                <a:sym typeface="윤고딕"/>
              </a:rPr>
              <a:t>2</a:t>
            </a:r>
          </a:p>
        </p:txBody>
      </p:sp>
      <p:sp>
        <p:nvSpPr>
          <p:cNvPr id="16" name="TextBox 6">
            <a:extLst>
              <a:ext uri="{FF2B5EF4-FFF2-40B4-BE49-F238E27FC236}">
                <a16:creationId xmlns:a16="http://schemas.microsoft.com/office/drawing/2014/main" id="{9831555D-008E-E677-37E4-D46FE090DBBE}"/>
              </a:ext>
            </a:extLst>
          </p:cNvPr>
          <p:cNvSpPr txBox="1"/>
          <p:nvPr/>
        </p:nvSpPr>
        <p:spPr>
          <a:xfrm>
            <a:off x="10420587" y="6193526"/>
            <a:ext cx="457200" cy="678199"/>
          </a:xfrm>
          <a:prstGeom prst="rect">
            <a:avLst/>
          </a:prstGeom>
        </p:spPr>
        <p:txBody>
          <a:bodyPr wrap="square" lIns="0" tIns="0" rIns="0" bIns="0" rtlCol="0" anchor="t">
            <a:spAutoFit/>
          </a:bodyPr>
          <a:lstStyle/>
          <a:p>
            <a:pPr algn="l">
              <a:lnSpc>
                <a:spcPts val="5837"/>
              </a:lnSpc>
            </a:pPr>
            <a:r>
              <a:rPr lang="en-US" altLang="ko-KR" sz="3998" spc="79" dirty="0">
                <a:solidFill>
                  <a:srgbClr val="FFFFFF"/>
                </a:solidFill>
                <a:latin typeface="윤고딕"/>
                <a:ea typeface="윤고딕"/>
                <a:cs typeface="윤고딕"/>
                <a:sym typeface="윤고딕"/>
              </a:rPr>
              <a:t>3</a:t>
            </a:r>
          </a:p>
        </p:txBody>
      </p:sp>
      <p:sp>
        <p:nvSpPr>
          <p:cNvPr id="17" name="TextBox 6">
            <a:extLst>
              <a:ext uri="{FF2B5EF4-FFF2-40B4-BE49-F238E27FC236}">
                <a16:creationId xmlns:a16="http://schemas.microsoft.com/office/drawing/2014/main" id="{AFD42A4E-E704-594E-663C-41468ECE673F}"/>
              </a:ext>
            </a:extLst>
          </p:cNvPr>
          <p:cNvSpPr txBox="1"/>
          <p:nvPr/>
        </p:nvSpPr>
        <p:spPr>
          <a:xfrm>
            <a:off x="16685572" y="6352913"/>
            <a:ext cx="457200" cy="678199"/>
          </a:xfrm>
          <a:prstGeom prst="rect">
            <a:avLst/>
          </a:prstGeom>
        </p:spPr>
        <p:txBody>
          <a:bodyPr wrap="square" lIns="0" tIns="0" rIns="0" bIns="0" rtlCol="0" anchor="t">
            <a:spAutoFit/>
          </a:bodyPr>
          <a:lstStyle/>
          <a:p>
            <a:pPr algn="l">
              <a:lnSpc>
                <a:spcPts val="5837"/>
              </a:lnSpc>
            </a:pPr>
            <a:r>
              <a:rPr lang="en-US" altLang="ko-KR" sz="3998" spc="79" dirty="0">
                <a:solidFill>
                  <a:srgbClr val="FFFFFF"/>
                </a:solidFill>
                <a:latin typeface="윤고딕"/>
                <a:ea typeface="윤고딕"/>
                <a:cs typeface="윤고딕"/>
                <a:sym typeface="윤고딕"/>
              </a:rPr>
              <a:t>4</a:t>
            </a:r>
          </a:p>
        </p:txBody>
      </p:sp>
    </p:spTree>
    <p:extLst>
      <p:ext uri="{BB962C8B-B14F-4D97-AF65-F5344CB8AC3E}">
        <p14:creationId xmlns:p14="http://schemas.microsoft.com/office/powerpoint/2010/main" val="127933964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212121"/>
        </a:solidFill>
        <a:effectLst/>
      </p:bgPr>
    </p:bg>
    <p:spTree>
      <p:nvGrpSpPr>
        <p:cNvPr id="1" name="">
          <a:extLst>
            <a:ext uri="{FF2B5EF4-FFF2-40B4-BE49-F238E27FC236}">
              <a16:creationId xmlns:a16="http://schemas.microsoft.com/office/drawing/2014/main" id="{97AE1C47-099D-B8CF-6E23-02DEEC8D0755}"/>
            </a:ext>
          </a:extLst>
        </p:cNvPr>
        <p:cNvGrpSpPr/>
        <p:nvPr/>
      </p:nvGrpSpPr>
      <p:grpSpPr>
        <a:xfrm>
          <a:off x="0" y="0"/>
          <a:ext cx="0" cy="0"/>
          <a:chOff x="0" y="0"/>
          <a:chExt cx="0" cy="0"/>
        </a:xfrm>
      </p:grpSpPr>
      <p:sp>
        <p:nvSpPr>
          <p:cNvPr id="4" name="TextBox 4">
            <a:extLst>
              <a:ext uri="{FF2B5EF4-FFF2-40B4-BE49-F238E27FC236}">
                <a16:creationId xmlns:a16="http://schemas.microsoft.com/office/drawing/2014/main" id="{6A9E87A7-D5F1-6E42-5472-ECCAB00F01FE}"/>
              </a:ext>
            </a:extLst>
          </p:cNvPr>
          <p:cNvSpPr txBox="1"/>
          <p:nvPr/>
        </p:nvSpPr>
        <p:spPr>
          <a:xfrm>
            <a:off x="1028700" y="771526"/>
            <a:ext cx="4364912" cy="264159"/>
          </a:xfrm>
          <a:prstGeom prst="rect">
            <a:avLst/>
          </a:prstGeom>
        </p:spPr>
        <p:txBody>
          <a:bodyPr lIns="0" tIns="0" rIns="0" bIns="0" rtlCol="0" anchor="t">
            <a:spAutoFit/>
          </a:bodyPr>
          <a:lstStyle/>
          <a:p>
            <a:pPr marL="0" lvl="0" indent="0" algn="l">
              <a:lnSpc>
                <a:spcPts val="2240"/>
              </a:lnSpc>
              <a:spcBef>
                <a:spcPct val="0"/>
              </a:spcBef>
            </a:pPr>
            <a:r>
              <a:rPr lang="en-US" sz="1600">
                <a:solidFill>
                  <a:srgbClr val="737373"/>
                </a:solidFill>
                <a:latin typeface="Alexandria Light"/>
                <a:ea typeface="Alexandria Light"/>
                <a:cs typeface="Alexandria Light"/>
                <a:sym typeface="Alexandria Light"/>
              </a:rPr>
              <a:t>PORTFOLIO</a:t>
            </a:r>
          </a:p>
        </p:txBody>
      </p:sp>
      <p:sp>
        <p:nvSpPr>
          <p:cNvPr id="6" name="TextBox 6">
            <a:extLst>
              <a:ext uri="{FF2B5EF4-FFF2-40B4-BE49-F238E27FC236}">
                <a16:creationId xmlns:a16="http://schemas.microsoft.com/office/drawing/2014/main" id="{04489B53-5BAE-7077-E033-5C711DA4698B}"/>
              </a:ext>
            </a:extLst>
          </p:cNvPr>
          <p:cNvSpPr txBox="1"/>
          <p:nvPr/>
        </p:nvSpPr>
        <p:spPr>
          <a:xfrm>
            <a:off x="1028700" y="1286970"/>
            <a:ext cx="5882762" cy="678199"/>
          </a:xfrm>
          <a:prstGeom prst="rect">
            <a:avLst/>
          </a:prstGeom>
        </p:spPr>
        <p:txBody>
          <a:bodyPr lIns="0" tIns="0" rIns="0" bIns="0" rtlCol="0" anchor="t">
            <a:spAutoFit/>
          </a:bodyPr>
          <a:lstStyle/>
          <a:p>
            <a:pPr algn="l">
              <a:lnSpc>
                <a:spcPts val="5837"/>
              </a:lnSpc>
            </a:pPr>
            <a:r>
              <a:rPr lang="en-US" sz="3998" spc="79" dirty="0" err="1">
                <a:solidFill>
                  <a:srgbClr val="FFFFFF"/>
                </a:solidFill>
                <a:latin typeface="윤고딕"/>
                <a:ea typeface="윤고딕"/>
                <a:cs typeface="윤고딕"/>
                <a:sym typeface="윤고딕"/>
              </a:rPr>
              <a:t>Skul</a:t>
            </a:r>
            <a:r>
              <a:rPr lang="en-US" sz="3998" spc="79" dirty="0">
                <a:solidFill>
                  <a:srgbClr val="FFFFFF"/>
                </a:solidFill>
                <a:latin typeface="윤고딕"/>
                <a:ea typeface="윤고딕"/>
                <a:cs typeface="윤고딕"/>
                <a:sym typeface="윤고딕"/>
              </a:rPr>
              <a:t> </a:t>
            </a:r>
            <a:r>
              <a:rPr lang="ko-KR" altLang="en-US" sz="3998" spc="79" dirty="0">
                <a:solidFill>
                  <a:srgbClr val="FFFFFF"/>
                </a:solidFill>
                <a:latin typeface="윤고딕"/>
                <a:ea typeface="윤고딕"/>
                <a:cs typeface="윤고딕"/>
                <a:sym typeface="윤고딕"/>
              </a:rPr>
              <a:t>모작</a:t>
            </a:r>
            <a:endParaRPr lang="en-US" sz="3998" spc="79" dirty="0">
              <a:solidFill>
                <a:srgbClr val="FFFFFF"/>
              </a:solidFill>
              <a:latin typeface="윤고딕"/>
              <a:ea typeface="윤고딕"/>
              <a:cs typeface="윤고딕"/>
              <a:sym typeface="윤고딕"/>
            </a:endParaRPr>
          </a:p>
        </p:txBody>
      </p:sp>
      <p:sp>
        <p:nvSpPr>
          <p:cNvPr id="8" name="TextBox 8">
            <a:extLst>
              <a:ext uri="{FF2B5EF4-FFF2-40B4-BE49-F238E27FC236}">
                <a16:creationId xmlns:a16="http://schemas.microsoft.com/office/drawing/2014/main" id="{1E0CCAE4-D88E-2CCC-693F-9440F62C8DA6}"/>
              </a:ext>
            </a:extLst>
          </p:cNvPr>
          <p:cNvSpPr txBox="1"/>
          <p:nvPr/>
        </p:nvSpPr>
        <p:spPr>
          <a:xfrm>
            <a:off x="994064" y="2216454"/>
            <a:ext cx="10347832" cy="350352"/>
          </a:xfrm>
          <a:prstGeom prst="rect">
            <a:avLst/>
          </a:prstGeom>
        </p:spPr>
        <p:txBody>
          <a:bodyPr lIns="0" tIns="0" rIns="0" bIns="0" rtlCol="0" anchor="t">
            <a:spAutoFit/>
          </a:bodyPr>
          <a:lstStyle/>
          <a:p>
            <a:pPr algn="just">
              <a:lnSpc>
                <a:spcPts val="2600"/>
              </a:lnSpc>
            </a:pPr>
            <a:r>
              <a:rPr lang="en-US" altLang="ko-KR" sz="3000" dirty="0" err="1">
                <a:solidFill>
                  <a:srgbClr val="FFFFFF"/>
                </a:solidFill>
                <a:latin typeface="윤고딕 Thin"/>
                <a:ea typeface="윤고딕 Thin"/>
                <a:cs typeface="윤고딕 Thin"/>
                <a:sym typeface="윤고딕 Thin"/>
              </a:rPr>
              <a:t>Addressables</a:t>
            </a:r>
            <a:endParaRPr lang="en-US" altLang="ko-KR" sz="3000" dirty="0">
              <a:solidFill>
                <a:srgbClr val="FFFFFF"/>
              </a:solidFill>
              <a:latin typeface="윤고딕 Thin"/>
              <a:ea typeface="윤고딕 Thin"/>
              <a:cs typeface="윤고딕 Thin"/>
              <a:sym typeface="윤고딕 Thin"/>
            </a:endParaRPr>
          </a:p>
        </p:txBody>
      </p:sp>
      <p:pic>
        <p:nvPicPr>
          <p:cNvPr id="3" name="그림 2">
            <a:extLst>
              <a:ext uri="{FF2B5EF4-FFF2-40B4-BE49-F238E27FC236}">
                <a16:creationId xmlns:a16="http://schemas.microsoft.com/office/drawing/2014/main" id="{7B71EE7D-0509-773F-613E-FD98ADBC9EC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372600" y="2888946"/>
            <a:ext cx="8316686" cy="5181600"/>
          </a:xfrm>
          <a:prstGeom prst="rect">
            <a:avLst/>
          </a:prstGeom>
        </p:spPr>
      </p:pic>
      <p:sp>
        <p:nvSpPr>
          <p:cNvPr id="5" name="TextBox 6">
            <a:extLst>
              <a:ext uri="{FF2B5EF4-FFF2-40B4-BE49-F238E27FC236}">
                <a16:creationId xmlns:a16="http://schemas.microsoft.com/office/drawing/2014/main" id="{8E81A19F-3F61-AC5C-571D-56EF64EADDAB}"/>
              </a:ext>
            </a:extLst>
          </p:cNvPr>
          <p:cNvSpPr txBox="1"/>
          <p:nvPr/>
        </p:nvSpPr>
        <p:spPr>
          <a:xfrm>
            <a:off x="1295400" y="5143500"/>
            <a:ext cx="5882762" cy="678199"/>
          </a:xfrm>
          <a:prstGeom prst="rect">
            <a:avLst/>
          </a:prstGeom>
        </p:spPr>
        <p:txBody>
          <a:bodyPr lIns="0" tIns="0" rIns="0" bIns="0" rtlCol="0" anchor="t">
            <a:spAutoFit/>
          </a:bodyPr>
          <a:lstStyle/>
          <a:p>
            <a:pPr algn="l">
              <a:lnSpc>
                <a:spcPts val="5837"/>
              </a:lnSpc>
            </a:pPr>
            <a:r>
              <a:rPr lang="ko-KR" altLang="en-US" sz="3998" spc="79" dirty="0">
                <a:solidFill>
                  <a:srgbClr val="FFFFFF"/>
                </a:solidFill>
                <a:latin typeface="윤고딕"/>
                <a:ea typeface="윤고딕"/>
                <a:cs typeface="윤고딕"/>
                <a:sym typeface="윤고딕"/>
              </a:rPr>
              <a:t>설명</a:t>
            </a:r>
            <a:endParaRPr lang="en-US" altLang="ko-KR" sz="3998" spc="79" dirty="0">
              <a:solidFill>
                <a:srgbClr val="FFFFFF"/>
              </a:solidFill>
              <a:latin typeface="윤고딕"/>
              <a:ea typeface="윤고딕"/>
              <a:cs typeface="윤고딕"/>
              <a:sym typeface="윤고딕"/>
            </a:endParaRPr>
          </a:p>
        </p:txBody>
      </p:sp>
    </p:spTree>
    <p:extLst>
      <p:ext uri="{BB962C8B-B14F-4D97-AF65-F5344CB8AC3E}">
        <p14:creationId xmlns:p14="http://schemas.microsoft.com/office/powerpoint/2010/main" val="160603111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212121"/>
        </a:solidFill>
        <a:effectLst/>
      </p:bgPr>
    </p:bg>
    <p:spTree>
      <p:nvGrpSpPr>
        <p:cNvPr id="1" name="">
          <a:extLst>
            <a:ext uri="{FF2B5EF4-FFF2-40B4-BE49-F238E27FC236}">
              <a16:creationId xmlns:a16="http://schemas.microsoft.com/office/drawing/2014/main" id="{96A47DFA-20CC-F90E-35DB-13B0A1F933FD}"/>
            </a:ext>
          </a:extLst>
        </p:cNvPr>
        <p:cNvGrpSpPr/>
        <p:nvPr/>
      </p:nvGrpSpPr>
      <p:grpSpPr>
        <a:xfrm>
          <a:off x="0" y="0"/>
          <a:ext cx="0" cy="0"/>
          <a:chOff x="0" y="0"/>
          <a:chExt cx="0" cy="0"/>
        </a:xfrm>
      </p:grpSpPr>
      <p:sp>
        <p:nvSpPr>
          <p:cNvPr id="4" name="TextBox 4">
            <a:extLst>
              <a:ext uri="{FF2B5EF4-FFF2-40B4-BE49-F238E27FC236}">
                <a16:creationId xmlns:a16="http://schemas.microsoft.com/office/drawing/2014/main" id="{7362196A-D3D0-035A-F8F7-0EDD641D879A}"/>
              </a:ext>
            </a:extLst>
          </p:cNvPr>
          <p:cNvSpPr txBox="1"/>
          <p:nvPr/>
        </p:nvSpPr>
        <p:spPr>
          <a:xfrm>
            <a:off x="1028700" y="771526"/>
            <a:ext cx="4364912" cy="264159"/>
          </a:xfrm>
          <a:prstGeom prst="rect">
            <a:avLst/>
          </a:prstGeom>
        </p:spPr>
        <p:txBody>
          <a:bodyPr lIns="0" tIns="0" rIns="0" bIns="0" rtlCol="0" anchor="t">
            <a:spAutoFit/>
          </a:bodyPr>
          <a:lstStyle/>
          <a:p>
            <a:pPr marL="0" lvl="0" indent="0" algn="l">
              <a:lnSpc>
                <a:spcPts val="2240"/>
              </a:lnSpc>
              <a:spcBef>
                <a:spcPct val="0"/>
              </a:spcBef>
            </a:pPr>
            <a:r>
              <a:rPr lang="en-US" sz="1600">
                <a:solidFill>
                  <a:srgbClr val="737373"/>
                </a:solidFill>
                <a:latin typeface="Alexandria Light"/>
                <a:ea typeface="Alexandria Light"/>
                <a:cs typeface="Alexandria Light"/>
                <a:sym typeface="Alexandria Light"/>
              </a:rPr>
              <a:t>PORTFOLIO</a:t>
            </a:r>
          </a:p>
        </p:txBody>
      </p:sp>
      <p:sp>
        <p:nvSpPr>
          <p:cNvPr id="6" name="TextBox 6">
            <a:extLst>
              <a:ext uri="{FF2B5EF4-FFF2-40B4-BE49-F238E27FC236}">
                <a16:creationId xmlns:a16="http://schemas.microsoft.com/office/drawing/2014/main" id="{082B0B69-E349-40AB-14C4-196D7C2D7BAA}"/>
              </a:ext>
            </a:extLst>
          </p:cNvPr>
          <p:cNvSpPr txBox="1"/>
          <p:nvPr/>
        </p:nvSpPr>
        <p:spPr>
          <a:xfrm>
            <a:off x="1028700" y="1286970"/>
            <a:ext cx="5882762" cy="678199"/>
          </a:xfrm>
          <a:prstGeom prst="rect">
            <a:avLst/>
          </a:prstGeom>
        </p:spPr>
        <p:txBody>
          <a:bodyPr lIns="0" tIns="0" rIns="0" bIns="0" rtlCol="0" anchor="t">
            <a:spAutoFit/>
          </a:bodyPr>
          <a:lstStyle/>
          <a:p>
            <a:pPr algn="l">
              <a:lnSpc>
                <a:spcPts val="5837"/>
              </a:lnSpc>
            </a:pPr>
            <a:r>
              <a:rPr lang="en-US" sz="3998" spc="79" dirty="0" err="1">
                <a:solidFill>
                  <a:srgbClr val="FFFFFF"/>
                </a:solidFill>
                <a:latin typeface="윤고딕"/>
                <a:ea typeface="윤고딕"/>
                <a:cs typeface="윤고딕"/>
                <a:sym typeface="윤고딕"/>
              </a:rPr>
              <a:t>Skul</a:t>
            </a:r>
            <a:r>
              <a:rPr lang="en-US" sz="3998" spc="79" dirty="0">
                <a:solidFill>
                  <a:srgbClr val="FFFFFF"/>
                </a:solidFill>
                <a:latin typeface="윤고딕"/>
                <a:ea typeface="윤고딕"/>
                <a:cs typeface="윤고딕"/>
                <a:sym typeface="윤고딕"/>
              </a:rPr>
              <a:t> </a:t>
            </a:r>
            <a:r>
              <a:rPr lang="ko-KR" altLang="en-US" sz="3998" spc="79" dirty="0">
                <a:solidFill>
                  <a:srgbClr val="FFFFFF"/>
                </a:solidFill>
                <a:latin typeface="윤고딕"/>
                <a:ea typeface="윤고딕"/>
                <a:cs typeface="윤고딕"/>
                <a:sym typeface="윤고딕"/>
              </a:rPr>
              <a:t>모작</a:t>
            </a:r>
            <a:endParaRPr lang="en-US" sz="3998" spc="79" dirty="0">
              <a:solidFill>
                <a:srgbClr val="FFFFFF"/>
              </a:solidFill>
              <a:latin typeface="윤고딕"/>
              <a:ea typeface="윤고딕"/>
              <a:cs typeface="윤고딕"/>
              <a:sym typeface="윤고딕"/>
            </a:endParaRPr>
          </a:p>
        </p:txBody>
      </p:sp>
      <p:sp>
        <p:nvSpPr>
          <p:cNvPr id="8" name="TextBox 8">
            <a:extLst>
              <a:ext uri="{FF2B5EF4-FFF2-40B4-BE49-F238E27FC236}">
                <a16:creationId xmlns:a16="http://schemas.microsoft.com/office/drawing/2014/main" id="{2F753C75-E114-8255-1896-36C8C805F40B}"/>
              </a:ext>
            </a:extLst>
          </p:cNvPr>
          <p:cNvSpPr txBox="1"/>
          <p:nvPr/>
        </p:nvSpPr>
        <p:spPr>
          <a:xfrm>
            <a:off x="1028700" y="2216454"/>
            <a:ext cx="10347832" cy="350352"/>
          </a:xfrm>
          <a:prstGeom prst="rect">
            <a:avLst/>
          </a:prstGeom>
        </p:spPr>
        <p:txBody>
          <a:bodyPr lIns="0" tIns="0" rIns="0" bIns="0" rtlCol="0" anchor="t">
            <a:spAutoFit/>
          </a:bodyPr>
          <a:lstStyle/>
          <a:p>
            <a:pPr algn="just">
              <a:lnSpc>
                <a:spcPts val="2600"/>
              </a:lnSpc>
            </a:pPr>
            <a:r>
              <a:rPr lang="en-US" altLang="ko-KR" sz="3000" dirty="0" err="1">
                <a:solidFill>
                  <a:srgbClr val="FFFFFF"/>
                </a:solidFill>
                <a:latin typeface="윤고딕 Thin"/>
                <a:ea typeface="윤고딕 Thin"/>
                <a:cs typeface="윤고딕 Thin"/>
                <a:sym typeface="윤고딕 Thin"/>
              </a:rPr>
              <a:t>ObjectPool</a:t>
            </a:r>
            <a:endParaRPr lang="en-US" altLang="ko-KR" sz="3000" dirty="0">
              <a:solidFill>
                <a:srgbClr val="FFFFFF"/>
              </a:solidFill>
              <a:latin typeface="윤고딕 Thin"/>
              <a:ea typeface="윤고딕 Thin"/>
              <a:cs typeface="윤고딕 Thin"/>
              <a:sym typeface="윤고딕 Thin"/>
            </a:endParaRPr>
          </a:p>
        </p:txBody>
      </p:sp>
      <p:pic>
        <p:nvPicPr>
          <p:cNvPr id="3" name="그림 2">
            <a:extLst>
              <a:ext uri="{FF2B5EF4-FFF2-40B4-BE49-F238E27FC236}">
                <a16:creationId xmlns:a16="http://schemas.microsoft.com/office/drawing/2014/main" id="{F02913CF-8DA0-6135-7CD4-8338B3C3D79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239000" y="3086100"/>
            <a:ext cx="10409900" cy="6066330"/>
          </a:xfrm>
          <a:prstGeom prst="rect">
            <a:avLst/>
          </a:prstGeom>
        </p:spPr>
      </p:pic>
      <p:sp>
        <p:nvSpPr>
          <p:cNvPr id="5" name="TextBox 6">
            <a:extLst>
              <a:ext uri="{FF2B5EF4-FFF2-40B4-BE49-F238E27FC236}">
                <a16:creationId xmlns:a16="http://schemas.microsoft.com/office/drawing/2014/main" id="{6646ECDE-7BD3-7AA1-0CC7-F5D628B5FC37}"/>
              </a:ext>
            </a:extLst>
          </p:cNvPr>
          <p:cNvSpPr txBox="1"/>
          <p:nvPr/>
        </p:nvSpPr>
        <p:spPr>
          <a:xfrm>
            <a:off x="1028700" y="3543300"/>
            <a:ext cx="5882762" cy="678199"/>
          </a:xfrm>
          <a:prstGeom prst="rect">
            <a:avLst/>
          </a:prstGeom>
        </p:spPr>
        <p:txBody>
          <a:bodyPr lIns="0" tIns="0" rIns="0" bIns="0" rtlCol="0" anchor="t">
            <a:spAutoFit/>
          </a:bodyPr>
          <a:lstStyle/>
          <a:p>
            <a:pPr algn="l">
              <a:lnSpc>
                <a:spcPts val="5837"/>
              </a:lnSpc>
            </a:pPr>
            <a:r>
              <a:rPr lang="ko-KR" altLang="en-US" sz="3998" spc="79" dirty="0">
                <a:solidFill>
                  <a:srgbClr val="FFFFFF"/>
                </a:solidFill>
                <a:latin typeface="윤고딕"/>
                <a:ea typeface="윤고딕"/>
                <a:cs typeface="윤고딕"/>
                <a:sym typeface="윤고딕"/>
              </a:rPr>
              <a:t>설명</a:t>
            </a:r>
            <a:endParaRPr lang="en-US" altLang="ko-KR" sz="3998" spc="79" dirty="0">
              <a:solidFill>
                <a:srgbClr val="FFFFFF"/>
              </a:solidFill>
              <a:latin typeface="윤고딕"/>
              <a:ea typeface="윤고딕"/>
              <a:cs typeface="윤고딕"/>
              <a:sym typeface="윤고딕"/>
            </a:endParaRPr>
          </a:p>
        </p:txBody>
      </p:sp>
    </p:spTree>
    <p:extLst>
      <p:ext uri="{BB962C8B-B14F-4D97-AF65-F5344CB8AC3E}">
        <p14:creationId xmlns:p14="http://schemas.microsoft.com/office/powerpoint/2010/main" val="1393197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212121"/>
        </a:solidFill>
        <a:effectLst/>
      </p:bgPr>
    </p:bg>
    <p:spTree>
      <p:nvGrpSpPr>
        <p:cNvPr id="1" name="">
          <a:extLst>
            <a:ext uri="{FF2B5EF4-FFF2-40B4-BE49-F238E27FC236}">
              <a16:creationId xmlns:a16="http://schemas.microsoft.com/office/drawing/2014/main" id="{1ADC58D0-4084-46DA-B60E-D481A5FFD093}"/>
            </a:ext>
          </a:extLst>
        </p:cNvPr>
        <p:cNvGrpSpPr/>
        <p:nvPr/>
      </p:nvGrpSpPr>
      <p:grpSpPr>
        <a:xfrm>
          <a:off x="0" y="0"/>
          <a:ext cx="0" cy="0"/>
          <a:chOff x="0" y="0"/>
          <a:chExt cx="0" cy="0"/>
        </a:xfrm>
      </p:grpSpPr>
      <p:sp>
        <p:nvSpPr>
          <p:cNvPr id="4" name="TextBox 4">
            <a:extLst>
              <a:ext uri="{FF2B5EF4-FFF2-40B4-BE49-F238E27FC236}">
                <a16:creationId xmlns:a16="http://schemas.microsoft.com/office/drawing/2014/main" id="{B7846A88-0CCF-43BF-9554-AD016064E02C}"/>
              </a:ext>
            </a:extLst>
          </p:cNvPr>
          <p:cNvSpPr txBox="1"/>
          <p:nvPr/>
        </p:nvSpPr>
        <p:spPr>
          <a:xfrm>
            <a:off x="1028700" y="771526"/>
            <a:ext cx="4364912" cy="264159"/>
          </a:xfrm>
          <a:prstGeom prst="rect">
            <a:avLst/>
          </a:prstGeom>
        </p:spPr>
        <p:txBody>
          <a:bodyPr lIns="0" tIns="0" rIns="0" bIns="0" rtlCol="0" anchor="t">
            <a:spAutoFit/>
          </a:bodyPr>
          <a:lstStyle/>
          <a:p>
            <a:pPr marL="0" lvl="0" indent="0" algn="l">
              <a:lnSpc>
                <a:spcPts val="2240"/>
              </a:lnSpc>
              <a:spcBef>
                <a:spcPct val="0"/>
              </a:spcBef>
            </a:pPr>
            <a:r>
              <a:rPr lang="en-US" sz="1600">
                <a:solidFill>
                  <a:srgbClr val="737373"/>
                </a:solidFill>
                <a:latin typeface="Alexandria Light"/>
                <a:ea typeface="Alexandria Light"/>
                <a:cs typeface="Alexandria Light"/>
                <a:sym typeface="Alexandria Light"/>
              </a:rPr>
              <a:t>PORTFOLIO</a:t>
            </a:r>
          </a:p>
        </p:txBody>
      </p:sp>
      <p:sp>
        <p:nvSpPr>
          <p:cNvPr id="6" name="TextBox 6">
            <a:extLst>
              <a:ext uri="{FF2B5EF4-FFF2-40B4-BE49-F238E27FC236}">
                <a16:creationId xmlns:a16="http://schemas.microsoft.com/office/drawing/2014/main" id="{C496A706-6FFC-A8A9-0D84-809669AD301D}"/>
              </a:ext>
            </a:extLst>
          </p:cNvPr>
          <p:cNvSpPr txBox="1"/>
          <p:nvPr/>
        </p:nvSpPr>
        <p:spPr>
          <a:xfrm>
            <a:off x="1028700" y="1286970"/>
            <a:ext cx="5882762" cy="678199"/>
          </a:xfrm>
          <a:prstGeom prst="rect">
            <a:avLst/>
          </a:prstGeom>
        </p:spPr>
        <p:txBody>
          <a:bodyPr lIns="0" tIns="0" rIns="0" bIns="0" rtlCol="0" anchor="t">
            <a:spAutoFit/>
          </a:bodyPr>
          <a:lstStyle/>
          <a:p>
            <a:pPr algn="l">
              <a:lnSpc>
                <a:spcPts val="5837"/>
              </a:lnSpc>
            </a:pPr>
            <a:r>
              <a:rPr lang="en-US" sz="3998" spc="79" dirty="0" err="1">
                <a:solidFill>
                  <a:srgbClr val="FFFFFF"/>
                </a:solidFill>
                <a:latin typeface="윤고딕"/>
                <a:ea typeface="윤고딕"/>
                <a:cs typeface="윤고딕"/>
                <a:sym typeface="윤고딕"/>
              </a:rPr>
              <a:t>Skul</a:t>
            </a:r>
            <a:r>
              <a:rPr lang="en-US" sz="3998" spc="79" dirty="0">
                <a:solidFill>
                  <a:srgbClr val="FFFFFF"/>
                </a:solidFill>
                <a:latin typeface="윤고딕"/>
                <a:ea typeface="윤고딕"/>
                <a:cs typeface="윤고딕"/>
                <a:sym typeface="윤고딕"/>
              </a:rPr>
              <a:t> </a:t>
            </a:r>
            <a:r>
              <a:rPr lang="ko-KR" altLang="en-US" sz="3998" spc="79" dirty="0">
                <a:solidFill>
                  <a:srgbClr val="FFFFFF"/>
                </a:solidFill>
                <a:latin typeface="윤고딕"/>
                <a:ea typeface="윤고딕"/>
                <a:cs typeface="윤고딕"/>
                <a:sym typeface="윤고딕"/>
              </a:rPr>
              <a:t>모작</a:t>
            </a:r>
            <a:endParaRPr lang="en-US" sz="3998" spc="79" dirty="0">
              <a:solidFill>
                <a:srgbClr val="FFFFFF"/>
              </a:solidFill>
              <a:latin typeface="윤고딕"/>
              <a:ea typeface="윤고딕"/>
              <a:cs typeface="윤고딕"/>
              <a:sym typeface="윤고딕"/>
            </a:endParaRPr>
          </a:p>
        </p:txBody>
      </p:sp>
      <p:sp>
        <p:nvSpPr>
          <p:cNvPr id="8" name="TextBox 8">
            <a:extLst>
              <a:ext uri="{FF2B5EF4-FFF2-40B4-BE49-F238E27FC236}">
                <a16:creationId xmlns:a16="http://schemas.microsoft.com/office/drawing/2014/main" id="{5FFB6796-B77C-CE00-DF6E-204B60DBF5C1}"/>
              </a:ext>
            </a:extLst>
          </p:cNvPr>
          <p:cNvSpPr txBox="1"/>
          <p:nvPr/>
        </p:nvSpPr>
        <p:spPr>
          <a:xfrm>
            <a:off x="1028700" y="2400300"/>
            <a:ext cx="1775338" cy="350352"/>
          </a:xfrm>
          <a:prstGeom prst="rect">
            <a:avLst/>
          </a:prstGeom>
        </p:spPr>
        <p:txBody>
          <a:bodyPr wrap="square" lIns="0" tIns="0" rIns="0" bIns="0" rtlCol="0" anchor="t">
            <a:spAutoFit/>
          </a:bodyPr>
          <a:lstStyle/>
          <a:p>
            <a:pPr algn="just">
              <a:lnSpc>
                <a:spcPts val="2600"/>
              </a:lnSpc>
            </a:pPr>
            <a:r>
              <a:rPr lang="en-US" altLang="ko-KR" sz="3000" dirty="0">
                <a:solidFill>
                  <a:srgbClr val="FFFFFF"/>
                </a:solidFill>
                <a:latin typeface="윤고딕 Thin"/>
                <a:ea typeface="윤고딕 Thin"/>
                <a:cs typeface="윤고딕 Thin"/>
                <a:sym typeface="윤고딕 Thin"/>
              </a:rPr>
              <a:t>FSM</a:t>
            </a:r>
            <a:r>
              <a:rPr lang="ko-KR" altLang="en-US" sz="3000" dirty="0">
                <a:solidFill>
                  <a:srgbClr val="FFFFFF"/>
                </a:solidFill>
                <a:latin typeface="윤고딕 Thin"/>
                <a:ea typeface="윤고딕 Thin"/>
                <a:cs typeface="윤고딕 Thin"/>
                <a:sym typeface="윤고딕 Thin"/>
              </a:rPr>
              <a:t>머신</a:t>
            </a:r>
            <a:endParaRPr lang="en-US" altLang="ko-KR" sz="3000" dirty="0">
              <a:solidFill>
                <a:srgbClr val="FFFFFF"/>
              </a:solidFill>
              <a:latin typeface="윤고딕 Thin"/>
              <a:ea typeface="윤고딕 Thin"/>
              <a:cs typeface="윤고딕 Thin"/>
              <a:sym typeface="윤고딕 Thin"/>
            </a:endParaRPr>
          </a:p>
        </p:txBody>
      </p:sp>
      <p:pic>
        <p:nvPicPr>
          <p:cNvPr id="3" name="그림 2">
            <a:extLst>
              <a:ext uri="{FF2B5EF4-FFF2-40B4-BE49-F238E27FC236}">
                <a16:creationId xmlns:a16="http://schemas.microsoft.com/office/drawing/2014/main" id="{44402D74-A396-4B7B-57A9-C8BF446F070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58400" y="355434"/>
            <a:ext cx="6932720" cy="9131466"/>
          </a:xfrm>
          <a:prstGeom prst="rect">
            <a:avLst/>
          </a:prstGeom>
        </p:spPr>
      </p:pic>
      <p:sp>
        <p:nvSpPr>
          <p:cNvPr id="5" name="TextBox 6">
            <a:extLst>
              <a:ext uri="{FF2B5EF4-FFF2-40B4-BE49-F238E27FC236}">
                <a16:creationId xmlns:a16="http://schemas.microsoft.com/office/drawing/2014/main" id="{3C8F0610-1FB9-3FAA-1D41-AAC954B38224}"/>
              </a:ext>
            </a:extLst>
          </p:cNvPr>
          <p:cNvSpPr txBox="1"/>
          <p:nvPr/>
        </p:nvSpPr>
        <p:spPr>
          <a:xfrm>
            <a:off x="1028700" y="3695700"/>
            <a:ext cx="5882762" cy="678199"/>
          </a:xfrm>
          <a:prstGeom prst="rect">
            <a:avLst/>
          </a:prstGeom>
        </p:spPr>
        <p:txBody>
          <a:bodyPr lIns="0" tIns="0" rIns="0" bIns="0" rtlCol="0" anchor="t">
            <a:spAutoFit/>
          </a:bodyPr>
          <a:lstStyle/>
          <a:p>
            <a:pPr algn="l">
              <a:lnSpc>
                <a:spcPts val="5837"/>
              </a:lnSpc>
            </a:pPr>
            <a:r>
              <a:rPr lang="ko-KR" altLang="en-US" sz="3998" spc="79" dirty="0">
                <a:solidFill>
                  <a:srgbClr val="FFFFFF"/>
                </a:solidFill>
                <a:latin typeface="윤고딕"/>
                <a:ea typeface="윤고딕"/>
                <a:cs typeface="윤고딕"/>
                <a:sym typeface="윤고딕"/>
              </a:rPr>
              <a:t>설명</a:t>
            </a:r>
            <a:endParaRPr lang="en-US" altLang="ko-KR" sz="3998" spc="79" dirty="0">
              <a:solidFill>
                <a:srgbClr val="FFFFFF"/>
              </a:solidFill>
              <a:latin typeface="윤고딕"/>
              <a:ea typeface="윤고딕"/>
              <a:cs typeface="윤고딕"/>
              <a:sym typeface="윤고딕"/>
            </a:endParaRPr>
          </a:p>
        </p:txBody>
      </p:sp>
    </p:spTree>
    <p:extLst>
      <p:ext uri="{BB962C8B-B14F-4D97-AF65-F5344CB8AC3E}">
        <p14:creationId xmlns:p14="http://schemas.microsoft.com/office/powerpoint/2010/main" val="146713509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212121"/>
        </a:solidFill>
        <a:effectLst/>
      </p:bgPr>
    </p:bg>
    <p:spTree>
      <p:nvGrpSpPr>
        <p:cNvPr id="1" name=""/>
        <p:cNvGrpSpPr/>
        <p:nvPr/>
      </p:nvGrpSpPr>
      <p:grpSpPr>
        <a:xfrm>
          <a:off x="0" y="0"/>
          <a:ext cx="0" cy="0"/>
          <a:chOff x="0" y="0"/>
          <a:chExt cx="0" cy="0"/>
        </a:xfrm>
      </p:grpSpPr>
      <p:grpSp>
        <p:nvGrpSpPr>
          <p:cNvPr id="2" name="Group 2"/>
          <p:cNvGrpSpPr/>
          <p:nvPr/>
        </p:nvGrpSpPr>
        <p:grpSpPr>
          <a:xfrm>
            <a:off x="-73371" y="3310904"/>
            <a:ext cx="9222175" cy="7122839"/>
            <a:chOff x="0" y="0"/>
            <a:chExt cx="760167" cy="587123"/>
          </a:xfrm>
        </p:grpSpPr>
        <p:sp>
          <p:nvSpPr>
            <p:cNvPr id="3" name="Freeform 3"/>
            <p:cNvSpPr/>
            <p:nvPr/>
          </p:nvSpPr>
          <p:spPr>
            <a:xfrm>
              <a:off x="0" y="0"/>
              <a:ext cx="760167" cy="587123"/>
            </a:xfrm>
            <a:custGeom>
              <a:avLst/>
              <a:gdLst/>
              <a:ahLst/>
              <a:cxnLst/>
              <a:rect l="l" t="t" r="r" b="b"/>
              <a:pathLst>
                <a:path w="760167" h="587123">
                  <a:moveTo>
                    <a:pt x="0" y="0"/>
                  </a:moveTo>
                  <a:lnTo>
                    <a:pt x="760167" y="0"/>
                  </a:lnTo>
                  <a:lnTo>
                    <a:pt x="760167" y="587123"/>
                  </a:lnTo>
                  <a:lnTo>
                    <a:pt x="0" y="587123"/>
                  </a:lnTo>
                  <a:close/>
                </a:path>
              </a:pathLst>
            </a:custGeom>
            <a:blipFill>
              <a:blip r:embed="rId2"/>
              <a:stretch>
                <a:fillRect l="-7927" r="-7926"/>
              </a:stretch>
            </a:blipFill>
          </p:spPr>
        </p:sp>
      </p:grpSp>
      <p:grpSp>
        <p:nvGrpSpPr>
          <p:cNvPr id="4" name="Group 4"/>
          <p:cNvGrpSpPr/>
          <p:nvPr/>
        </p:nvGrpSpPr>
        <p:grpSpPr>
          <a:xfrm>
            <a:off x="9139197" y="3310904"/>
            <a:ext cx="9222175" cy="7122839"/>
            <a:chOff x="0" y="0"/>
            <a:chExt cx="760167" cy="587123"/>
          </a:xfrm>
        </p:grpSpPr>
        <p:sp>
          <p:nvSpPr>
            <p:cNvPr id="5" name="Freeform 5"/>
            <p:cNvSpPr/>
            <p:nvPr/>
          </p:nvSpPr>
          <p:spPr>
            <a:xfrm>
              <a:off x="0" y="0"/>
              <a:ext cx="760167" cy="587123"/>
            </a:xfrm>
            <a:custGeom>
              <a:avLst/>
              <a:gdLst/>
              <a:ahLst/>
              <a:cxnLst/>
              <a:rect l="l" t="t" r="r" b="b"/>
              <a:pathLst>
                <a:path w="760167" h="587123">
                  <a:moveTo>
                    <a:pt x="0" y="0"/>
                  </a:moveTo>
                  <a:lnTo>
                    <a:pt x="760167" y="0"/>
                  </a:lnTo>
                  <a:lnTo>
                    <a:pt x="760167" y="587123"/>
                  </a:lnTo>
                  <a:lnTo>
                    <a:pt x="0" y="587123"/>
                  </a:lnTo>
                  <a:close/>
                </a:path>
              </a:pathLst>
            </a:custGeom>
            <a:blipFill>
              <a:blip r:embed="rId3"/>
              <a:stretch>
                <a:fillRect l="-7927" r="-7926"/>
              </a:stretch>
            </a:blipFill>
          </p:spPr>
        </p:sp>
      </p:grpSp>
      <p:sp>
        <p:nvSpPr>
          <p:cNvPr id="6" name="TextBox 6"/>
          <p:cNvSpPr txBox="1"/>
          <p:nvPr/>
        </p:nvSpPr>
        <p:spPr>
          <a:xfrm>
            <a:off x="1028700" y="771526"/>
            <a:ext cx="4364912" cy="264159"/>
          </a:xfrm>
          <a:prstGeom prst="rect">
            <a:avLst/>
          </a:prstGeom>
        </p:spPr>
        <p:txBody>
          <a:bodyPr lIns="0" tIns="0" rIns="0" bIns="0" rtlCol="0" anchor="t">
            <a:spAutoFit/>
          </a:bodyPr>
          <a:lstStyle/>
          <a:p>
            <a:pPr marL="0" lvl="0" indent="0" algn="l">
              <a:lnSpc>
                <a:spcPts val="2240"/>
              </a:lnSpc>
              <a:spcBef>
                <a:spcPct val="0"/>
              </a:spcBef>
            </a:pPr>
            <a:r>
              <a:rPr lang="en-US" sz="1600">
                <a:solidFill>
                  <a:srgbClr val="737373"/>
                </a:solidFill>
                <a:latin typeface="Alexandria Light"/>
                <a:ea typeface="Alexandria Light"/>
                <a:cs typeface="Alexandria Light"/>
                <a:sym typeface="Alexandria Light"/>
              </a:rPr>
              <a:t>PORTFOLIO</a:t>
            </a:r>
          </a:p>
        </p:txBody>
      </p:sp>
      <p:sp>
        <p:nvSpPr>
          <p:cNvPr id="7" name="TextBox 7"/>
          <p:cNvSpPr txBox="1"/>
          <p:nvPr/>
        </p:nvSpPr>
        <p:spPr>
          <a:xfrm>
            <a:off x="14924376" y="771526"/>
            <a:ext cx="2334918" cy="264159"/>
          </a:xfrm>
          <a:prstGeom prst="rect">
            <a:avLst/>
          </a:prstGeom>
        </p:spPr>
        <p:txBody>
          <a:bodyPr lIns="0" tIns="0" rIns="0" bIns="0" rtlCol="0" anchor="t">
            <a:spAutoFit/>
          </a:bodyPr>
          <a:lstStyle/>
          <a:p>
            <a:pPr marL="0" lvl="0" indent="0" algn="r">
              <a:lnSpc>
                <a:spcPts val="2240"/>
              </a:lnSpc>
              <a:spcBef>
                <a:spcPct val="0"/>
              </a:spcBef>
            </a:pPr>
            <a:r>
              <a:rPr lang="en-US" sz="1600" u="none" strike="noStrike">
                <a:solidFill>
                  <a:srgbClr val="737373"/>
                </a:solidFill>
                <a:latin typeface="Alexandria Light"/>
                <a:ea typeface="Alexandria Light"/>
                <a:cs typeface="Alexandria Light"/>
                <a:sym typeface="Alexandria Light"/>
              </a:rPr>
              <a:t>2020 - 2050</a:t>
            </a:r>
          </a:p>
        </p:txBody>
      </p:sp>
      <p:sp>
        <p:nvSpPr>
          <p:cNvPr id="8" name="TextBox 8"/>
          <p:cNvSpPr txBox="1"/>
          <p:nvPr/>
        </p:nvSpPr>
        <p:spPr>
          <a:xfrm>
            <a:off x="1028700" y="1286970"/>
            <a:ext cx="5882762" cy="706181"/>
          </a:xfrm>
          <a:prstGeom prst="rect">
            <a:avLst/>
          </a:prstGeom>
        </p:spPr>
        <p:txBody>
          <a:bodyPr lIns="0" tIns="0" rIns="0" bIns="0" rtlCol="0" anchor="t">
            <a:spAutoFit/>
          </a:bodyPr>
          <a:lstStyle/>
          <a:p>
            <a:pPr algn="l">
              <a:lnSpc>
                <a:spcPts val="5837"/>
              </a:lnSpc>
            </a:pPr>
            <a:r>
              <a:rPr lang="en-US" sz="3998" spc="79">
                <a:solidFill>
                  <a:srgbClr val="FFFFFF"/>
                </a:solidFill>
                <a:latin typeface="윤고딕"/>
                <a:ea typeface="윤고딕"/>
                <a:cs typeface="윤고딕"/>
                <a:sym typeface="윤고딕"/>
              </a:rPr>
              <a:t>그래픽 디자인 프로젝트</a:t>
            </a:r>
          </a:p>
        </p:txBody>
      </p:sp>
      <p:sp>
        <p:nvSpPr>
          <p:cNvPr id="9" name="TextBox 9"/>
          <p:cNvSpPr txBox="1"/>
          <p:nvPr/>
        </p:nvSpPr>
        <p:spPr>
          <a:xfrm>
            <a:off x="1028700" y="2146698"/>
            <a:ext cx="2750145" cy="332740"/>
          </a:xfrm>
          <a:prstGeom prst="rect">
            <a:avLst/>
          </a:prstGeom>
        </p:spPr>
        <p:txBody>
          <a:bodyPr lIns="0" tIns="0" rIns="0" bIns="0" rtlCol="0" anchor="t">
            <a:spAutoFit/>
          </a:bodyPr>
          <a:lstStyle/>
          <a:p>
            <a:pPr algn="l">
              <a:lnSpc>
                <a:spcPts val="2659"/>
              </a:lnSpc>
            </a:pPr>
            <a:r>
              <a:rPr lang="en-US" sz="1899">
                <a:solidFill>
                  <a:srgbClr val="FFFFFF"/>
                </a:solidFill>
                <a:latin typeface="윤고딕"/>
                <a:ea typeface="윤고딕"/>
                <a:cs typeface="윤고딕"/>
                <a:sym typeface="윤고딕"/>
              </a:rPr>
              <a:t>2050. 01. 02</a:t>
            </a:r>
          </a:p>
        </p:txBody>
      </p:sp>
      <p:sp>
        <p:nvSpPr>
          <p:cNvPr id="10" name="TextBox 10"/>
          <p:cNvSpPr txBox="1"/>
          <p:nvPr/>
        </p:nvSpPr>
        <p:spPr>
          <a:xfrm>
            <a:off x="6911462" y="1391426"/>
            <a:ext cx="10347832" cy="1309878"/>
          </a:xfrm>
          <a:prstGeom prst="rect">
            <a:avLst/>
          </a:prstGeom>
        </p:spPr>
        <p:txBody>
          <a:bodyPr lIns="0" tIns="0" rIns="0" bIns="0" rtlCol="0" anchor="t">
            <a:spAutoFit/>
          </a:bodyPr>
          <a:lstStyle/>
          <a:p>
            <a:pPr algn="just">
              <a:lnSpc>
                <a:spcPts val="2600"/>
              </a:lnSpc>
            </a:pPr>
            <a:r>
              <a:rPr lang="en-US" sz="1699">
                <a:solidFill>
                  <a:srgbClr val="FFFFFF"/>
                </a:solidFill>
                <a:latin typeface="윤고딕 Thin"/>
                <a:ea typeface="윤고딕 Thin"/>
                <a:cs typeface="윤고딕 Thin"/>
                <a:sym typeface="윤고딕 Thin"/>
              </a:rPr>
              <a:t>이 프로젝트는 브랜드 아이덴티티를 강화하고 소비자의 관심을 끌기 위해 기획되었습니다. 화이트 모던 테마를 중심으로 세련된 매력을 강조하고, 빨간색 시침을 포인트로 하여 시각적 흥미를 더했습니다. 친환경 소재를 사용하여 지속 가능성을 고려했으며, 독창적인 그래픽으로 제품의 특성을 효과적으로 전달했습니다. 소비자 경험을 최우선으로 하여 사용의 편리함과 시각적 매력을 동시에 만족시키는 시계 디자인을 실현했습니다.</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212121"/>
        </a:solidFill>
        <a:effectLst/>
      </p:bgPr>
    </p:bg>
    <p:spTree>
      <p:nvGrpSpPr>
        <p:cNvPr id="1" name=""/>
        <p:cNvGrpSpPr/>
        <p:nvPr/>
      </p:nvGrpSpPr>
      <p:grpSpPr>
        <a:xfrm>
          <a:off x="0" y="0"/>
          <a:ext cx="0" cy="0"/>
          <a:chOff x="0" y="0"/>
          <a:chExt cx="0" cy="0"/>
        </a:xfrm>
      </p:grpSpPr>
      <p:grpSp>
        <p:nvGrpSpPr>
          <p:cNvPr id="2" name="Group 2"/>
          <p:cNvGrpSpPr/>
          <p:nvPr/>
        </p:nvGrpSpPr>
        <p:grpSpPr>
          <a:xfrm>
            <a:off x="-111160" y="3310904"/>
            <a:ext cx="6176396" cy="7122839"/>
            <a:chOff x="0" y="0"/>
            <a:chExt cx="509109" cy="587123"/>
          </a:xfrm>
        </p:grpSpPr>
        <p:sp>
          <p:nvSpPr>
            <p:cNvPr id="3" name="Freeform 3"/>
            <p:cNvSpPr/>
            <p:nvPr/>
          </p:nvSpPr>
          <p:spPr>
            <a:xfrm>
              <a:off x="0" y="0"/>
              <a:ext cx="509109" cy="587123"/>
            </a:xfrm>
            <a:custGeom>
              <a:avLst/>
              <a:gdLst/>
              <a:ahLst/>
              <a:cxnLst/>
              <a:rect l="l" t="t" r="r" b="b"/>
              <a:pathLst>
                <a:path w="509109" h="587123">
                  <a:moveTo>
                    <a:pt x="0" y="0"/>
                  </a:moveTo>
                  <a:lnTo>
                    <a:pt x="509109" y="0"/>
                  </a:lnTo>
                  <a:lnTo>
                    <a:pt x="509109" y="587123"/>
                  </a:lnTo>
                  <a:lnTo>
                    <a:pt x="0" y="587123"/>
                  </a:lnTo>
                  <a:close/>
                </a:path>
              </a:pathLst>
            </a:custGeom>
            <a:blipFill>
              <a:blip r:embed="rId2"/>
              <a:stretch>
                <a:fillRect l="-36465" r="-36465"/>
              </a:stretch>
            </a:blipFill>
          </p:spPr>
        </p:sp>
      </p:grpSp>
      <p:grpSp>
        <p:nvGrpSpPr>
          <p:cNvPr id="4" name="Group 4"/>
          <p:cNvGrpSpPr/>
          <p:nvPr/>
        </p:nvGrpSpPr>
        <p:grpSpPr>
          <a:xfrm>
            <a:off x="6058802" y="3310904"/>
            <a:ext cx="6176396" cy="7122839"/>
            <a:chOff x="0" y="0"/>
            <a:chExt cx="509109" cy="587123"/>
          </a:xfrm>
        </p:grpSpPr>
        <p:sp>
          <p:nvSpPr>
            <p:cNvPr id="5" name="Freeform 5"/>
            <p:cNvSpPr/>
            <p:nvPr/>
          </p:nvSpPr>
          <p:spPr>
            <a:xfrm>
              <a:off x="0" y="0"/>
              <a:ext cx="509109" cy="587123"/>
            </a:xfrm>
            <a:custGeom>
              <a:avLst/>
              <a:gdLst/>
              <a:ahLst/>
              <a:cxnLst/>
              <a:rect l="l" t="t" r="r" b="b"/>
              <a:pathLst>
                <a:path w="509109" h="587123">
                  <a:moveTo>
                    <a:pt x="0" y="0"/>
                  </a:moveTo>
                  <a:lnTo>
                    <a:pt x="509109" y="0"/>
                  </a:lnTo>
                  <a:lnTo>
                    <a:pt x="509109" y="587123"/>
                  </a:lnTo>
                  <a:lnTo>
                    <a:pt x="0" y="587123"/>
                  </a:lnTo>
                  <a:close/>
                </a:path>
              </a:pathLst>
            </a:custGeom>
            <a:blipFill>
              <a:blip r:embed="rId3"/>
              <a:stretch>
                <a:fillRect t="-10426" b="-10426"/>
              </a:stretch>
            </a:blipFill>
          </p:spPr>
        </p:sp>
      </p:grpSp>
      <p:grpSp>
        <p:nvGrpSpPr>
          <p:cNvPr id="6" name="Group 6"/>
          <p:cNvGrpSpPr/>
          <p:nvPr/>
        </p:nvGrpSpPr>
        <p:grpSpPr>
          <a:xfrm>
            <a:off x="12222765" y="3310904"/>
            <a:ext cx="6176396" cy="7122839"/>
            <a:chOff x="0" y="0"/>
            <a:chExt cx="509109" cy="587123"/>
          </a:xfrm>
        </p:grpSpPr>
        <p:sp>
          <p:nvSpPr>
            <p:cNvPr id="7" name="Freeform 7"/>
            <p:cNvSpPr/>
            <p:nvPr/>
          </p:nvSpPr>
          <p:spPr>
            <a:xfrm>
              <a:off x="0" y="0"/>
              <a:ext cx="509109" cy="587123"/>
            </a:xfrm>
            <a:custGeom>
              <a:avLst/>
              <a:gdLst/>
              <a:ahLst/>
              <a:cxnLst/>
              <a:rect l="l" t="t" r="r" b="b"/>
              <a:pathLst>
                <a:path w="509109" h="587123">
                  <a:moveTo>
                    <a:pt x="0" y="0"/>
                  </a:moveTo>
                  <a:lnTo>
                    <a:pt x="509109" y="0"/>
                  </a:lnTo>
                  <a:lnTo>
                    <a:pt x="509109" y="587123"/>
                  </a:lnTo>
                  <a:lnTo>
                    <a:pt x="0" y="587123"/>
                  </a:lnTo>
                  <a:close/>
                </a:path>
              </a:pathLst>
            </a:custGeom>
            <a:blipFill>
              <a:blip r:embed="rId4"/>
              <a:stretch>
                <a:fillRect t="-14975" b="-14975"/>
              </a:stretch>
            </a:blipFill>
          </p:spPr>
        </p:sp>
      </p:grpSp>
      <p:sp>
        <p:nvSpPr>
          <p:cNvPr id="8" name="TextBox 8"/>
          <p:cNvSpPr txBox="1"/>
          <p:nvPr/>
        </p:nvSpPr>
        <p:spPr>
          <a:xfrm>
            <a:off x="1028700" y="771526"/>
            <a:ext cx="4364912" cy="264159"/>
          </a:xfrm>
          <a:prstGeom prst="rect">
            <a:avLst/>
          </a:prstGeom>
        </p:spPr>
        <p:txBody>
          <a:bodyPr lIns="0" tIns="0" rIns="0" bIns="0" rtlCol="0" anchor="t">
            <a:spAutoFit/>
          </a:bodyPr>
          <a:lstStyle/>
          <a:p>
            <a:pPr marL="0" lvl="0" indent="0" algn="l">
              <a:lnSpc>
                <a:spcPts val="2240"/>
              </a:lnSpc>
              <a:spcBef>
                <a:spcPct val="0"/>
              </a:spcBef>
            </a:pPr>
            <a:r>
              <a:rPr lang="en-US" sz="1600">
                <a:solidFill>
                  <a:srgbClr val="737373"/>
                </a:solidFill>
                <a:latin typeface="Alexandria Light"/>
                <a:ea typeface="Alexandria Light"/>
                <a:cs typeface="Alexandria Light"/>
                <a:sym typeface="Alexandria Light"/>
              </a:rPr>
              <a:t>PORTFOLIO</a:t>
            </a:r>
          </a:p>
        </p:txBody>
      </p:sp>
      <p:sp>
        <p:nvSpPr>
          <p:cNvPr id="9" name="TextBox 9"/>
          <p:cNvSpPr txBox="1"/>
          <p:nvPr/>
        </p:nvSpPr>
        <p:spPr>
          <a:xfrm>
            <a:off x="14924376" y="771526"/>
            <a:ext cx="2334918" cy="264159"/>
          </a:xfrm>
          <a:prstGeom prst="rect">
            <a:avLst/>
          </a:prstGeom>
        </p:spPr>
        <p:txBody>
          <a:bodyPr lIns="0" tIns="0" rIns="0" bIns="0" rtlCol="0" anchor="t">
            <a:spAutoFit/>
          </a:bodyPr>
          <a:lstStyle/>
          <a:p>
            <a:pPr marL="0" lvl="0" indent="0" algn="r">
              <a:lnSpc>
                <a:spcPts val="2240"/>
              </a:lnSpc>
              <a:spcBef>
                <a:spcPct val="0"/>
              </a:spcBef>
            </a:pPr>
            <a:r>
              <a:rPr lang="en-US" sz="1600" u="none" strike="noStrike">
                <a:solidFill>
                  <a:srgbClr val="737373"/>
                </a:solidFill>
                <a:latin typeface="Alexandria Light"/>
                <a:ea typeface="Alexandria Light"/>
                <a:cs typeface="Alexandria Light"/>
                <a:sym typeface="Alexandria Light"/>
              </a:rPr>
              <a:t>2020 - 2050</a:t>
            </a:r>
          </a:p>
        </p:txBody>
      </p:sp>
      <p:sp>
        <p:nvSpPr>
          <p:cNvPr id="10" name="TextBox 10"/>
          <p:cNvSpPr txBox="1"/>
          <p:nvPr/>
        </p:nvSpPr>
        <p:spPr>
          <a:xfrm>
            <a:off x="1028700" y="1286970"/>
            <a:ext cx="5882762" cy="706181"/>
          </a:xfrm>
          <a:prstGeom prst="rect">
            <a:avLst/>
          </a:prstGeom>
        </p:spPr>
        <p:txBody>
          <a:bodyPr lIns="0" tIns="0" rIns="0" bIns="0" rtlCol="0" anchor="t">
            <a:spAutoFit/>
          </a:bodyPr>
          <a:lstStyle/>
          <a:p>
            <a:pPr algn="l">
              <a:lnSpc>
                <a:spcPts val="5837"/>
              </a:lnSpc>
            </a:pPr>
            <a:r>
              <a:rPr lang="en-US" sz="3998" spc="79">
                <a:solidFill>
                  <a:srgbClr val="FFFFFF"/>
                </a:solidFill>
                <a:latin typeface="윤고딕"/>
                <a:ea typeface="윤고딕"/>
                <a:cs typeface="윤고딕"/>
                <a:sym typeface="윤고딕"/>
              </a:rPr>
              <a:t>그래픽 디자인 프로젝트</a:t>
            </a:r>
          </a:p>
        </p:txBody>
      </p:sp>
      <p:sp>
        <p:nvSpPr>
          <p:cNvPr id="11" name="TextBox 11"/>
          <p:cNvSpPr txBox="1"/>
          <p:nvPr/>
        </p:nvSpPr>
        <p:spPr>
          <a:xfrm>
            <a:off x="1028700" y="2146698"/>
            <a:ext cx="2750145" cy="332740"/>
          </a:xfrm>
          <a:prstGeom prst="rect">
            <a:avLst/>
          </a:prstGeom>
        </p:spPr>
        <p:txBody>
          <a:bodyPr lIns="0" tIns="0" rIns="0" bIns="0" rtlCol="0" anchor="t">
            <a:spAutoFit/>
          </a:bodyPr>
          <a:lstStyle/>
          <a:p>
            <a:pPr algn="l">
              <a:lnSpc>
                <a:spcPts val="2659"/>
              </a:lnSpc>
            </a:pPr>
            <a:r>
              <a:rPr lang="en-US" sz="1899">
                <a:solidFill>
                  <a:srgbClr val="FFFFFF"/>
                </a:solidFill>
                <a:latin typeface="윤고딕"/>
                <a:ea typeface="윤고딕"/>
                <a:cs typeface="윤고딕"/>
                <a:sym typeface="윤고딕"/>
              </a:rPr>
              <a:t>2050. 01. 02</a:t>
            </a:r>
          </a:p>
        </p:txBody>
      </p:sp>
      <p:sp>
        <p:nvSpPr>
          <p:cNvPr id="12" name="TextBox 12"/>
          <p:cNvSpPr txBox="1"/>
          <p:nvPr/>
        </p:nvSpPr>
        <p:spPr>
          <a:xfrm>
            <a:off x="6911462" y="1391426"/>
            <a:ext cx="10347832" cy="981266"/>
          </a:xfrm>
          <a:prstGeom prst="rect">
            <a:avLst/>
          </a:prstGeom>
        </p:spPr>
        <p:txBody>
          <a:bodyPr lIns="0" tIns="0" rIns="0" bIns="0" rtlCol="0" anchor="t">
            <a:spAutoFit/>
          </a:bodyPr>
          <a:lstStyle/>
          <a:p>
            <a:pPr algn="just">
              <a:lnSpc>
                <a:spcPts val="2600"/>
              </a:lnSpc>
            </a:pPr>
            <a:r>
              <a:rPr lang="en-US" sz="1699">
                <a:solidFill>
                  <a:srgbClr val="FFFFFF"/>
                </a:solidFill>
                <a:latin typeface="윤고딕 Thin"/>
                <a:ea typeface="윤고딕 Thin"/>
                <a:cs typeface="윤고딕 Thin"/>
                <a:sym typeface="윤고딕 Thin"/>
              </a:rPr>
              <a:t>이 포스터 디자인은 유기적인 형태의 건축물 비주얼을 중심으로 기획되었습니다. 부드럽고 자연스러운 곡선을 활용하여 시각적인 흥미를 더하고, 흑백의 모던한 색조로 고급스러움을 강조했습니다. 창의적인 그래픽으로 건축물의 독특한 매력을 효과적으로 전달했습니다. 관람자의 시선을 사로잡고 감각적인 경험을 제공하는 디자인을 목표로 하였습니다.</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212121"/>
        </a:solidFill>
        <a:effectLst/>
      </p:bgPr>
    </p:bg>
    <p:spTree>
      <p:nvGrpSpPr>
        <p:cNvPr id="1" name=""/>
        <p:cNvGrpSpPr/>
        <p:nvPr/>
      </p:nvGrpSpPr>
      <p:grpSpPr>
        <a:xfrm>
          <a:off x="0" y="0"/>
          <a:ext cx="0" cy="0"/>
          <a:chOff x="0" y="0"/>
          <a:chExt cx="0" cy="0"/>
        </a:xfrm>
      </p:grpSpPr>
      <p:sp>
        <p:nvSpPr>
          <p:cNvPr id="2" name="TextBox 2"/>
          <p:cNvSpPr txBox="1"/>
          <p:nvPr/>
        </p:nvSpPr>
        <p:spPr>
          <a:xfrm>
            <a:off x="923925" y="6018297"/>
            <a:ext cx="12680226" cy="2605805"/>
          </a:xfrm>
          <a:prstGeom prst="rect">
            <a:avLst/>
          </a:prstGeom>
        </p:spPr>
        <p:txBody>
          <a:bodyPr lIns="0" tIns="0" rIns="0" bIns="0" rtlCol="0" anchor="t">
            <a:spAutoFit/>
          </a:bodyPr>
          <a:lstStyle/>
          <a:p>
            <a:pPr algn="l">
              <a:lnSpc>
                <a:spcPts val="21368"/>
              </a:lnSpc>
            </a:pPr>
            <a:r>
              <a:rPr lang="en-US" sz="15263" b="1" dirty="0">
                <a:solidFill>
                  <a:srgbClr val="FFFFFF"/>
                </a:solidFill>
                <a:latin typeface="Alexandria Bold"/>
                <a:ea typeface="Alexandria Bold"/>
                <a:cs typeface="Alexandria Bold"/>
                <a:sym typeface="Alexandria Bold"/>
              </a:rPr>
              <a:t>THANK YOU.</a:t>
            </a:r>
          </a:p>
        </p:txBody>
      </p:sp>
      <p:sp>
        <p:nvSpPr>
          <p:cNvPr id="3" name="TextBox 3"/>
          <p:cNvSpPr txBox="1"/>
          <p:nvPr/>
        </p:nvSpPr>
        <p:spPr>
          <a:xfrm>
            <a:off x="1028700" y="8897620"/>
            <a:ext cx="11923841" cy="374650"/>
          </a:xfrm>
          <a:prstGeom prst="rect">
            <a:avLst/>
          </a:prstGeom>
        </p:spPr>
        <p:txBody>
          <a:bodyPr lIns="0" tIns="0" rIns="0" bIns="0" rtlCol="0" anchor="t">
            <a:spAutoFit/>
          </a:bodyPr>
          <a:lstStyle/>
          <a:p>
            <a:pPr marL="0" lvl="0" indent="0" algn="l">
              <a:lnSpc>
                <a:spcPts val="3199"/>
              </a:lnSpc>
              <a:spcBef>
                <a:spcPct val="0"/>
              </a:spcBef>
            </a:pPr>
            <a:r>
              <a:rPr lang="ko-KR" altLang="en-US" sz="1999" dirty="0">
                <a:solidFill>
                  <a:srgbClr val="B4B4B4"/>
                </a:solidFill>
                <a:latin typeface="윤고딕 Light"/>
                <a:ea typeface="윤고딕 Light"/>
                <a:cs typeface="윤고딕 Light"/>
                <a:sym typeface="윤고딕 Light"/>
              </a:rPr>
              <a:t>정태민</a:t>
            </a:r>
            <a:r>
              <a:rPr lang="en-US" sz="1999" dirty="0">
                <a:solidFill>
                  <a:srgbClr val="B4B4B4"/>
                </a:solidFill>
                <a:latin typeface="윤고딕 Light"/>
                <a:ea typeface="윤고딕 Light"/>
                <a:cs typeface="윤고딕 Light"/>
                <a:sym typeface="윤고딕 Light"/>
              </a:rPr>
              <a:t>     PHONE: 010-4114-2196     MAIL: hanabira2356@gamil.com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122</TotalTime>
  <Words>228</Words>
  <Application>Microsoft Office PowerPoint</Application>
  <PresentationFormat>사용자 지정</PresentationFormat>
  <Paragraphs>60</Paragraphs>
  <Slides>13</Slides>
  <Notes>0</Notes>
  <HiddenSlides>0</HiddenSlides>
  <MMClips>0</MMClips>
  <ScaleCrop>false</ScaleCrop>
  <HeadingPairs>
    <vt:vector size="6" baseType="variant">
      <vt:variant>
        <vt:lpstr>사용한 글꼴</vt:lpstr>
      </vt:variant>
      <vt:variant>
        <vt:i4>8</vt:i4>
      </vt:variant>
      <vt:variant>
        <vt:lpstr>테마</vt:lpstr>
      </vt:variant>
      <vt:variant>
        <vt:i4>1</vt:i4>
      </vt:variant>
      <vt:variant>
        <vt:lpstr>슬라이드 제목</vt:lpstr>
      </vt:variant>
      <vt:variant>
        <vt:i4>13</vt:i4>
      </vt:variant>
    </vt:vector>
  </HeadingPairs>
  <TitlesOfParts>
    <vt:vector size="22" baseType="lpstr">
      <vt:lpstr>Alexandria Light</vt:lpstr>
      <vt:lpstr>Alexandria Bold</vt:lpstr>
      <vt:lpstr>윤고딕 Light</vt:lpstr>
      <vt:lpstr>Alexandria Semi-Bold</vt:lpstr>
      <vt:lpstr>윤고딕 Thin</vt:lpstr>
      <vt:lpstr>윤고딕</vt:lpstr>
      <vt:lpstr>Calibri</vt:lpstr>
      <vt:lpstr>Arial</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검정색 흰색 심플한 포트폴리오 프레젠테이션</dc:title>
  <dc:creator>User</dc:creator>
  <cp:lastModifiedBy>hanabira2356@gmail.com</cp:lastModifiedBy>
  <cp:revision>4</cp:revision>
  <dcterms:created xsi:type="dcterms:W3CDTF">2006-08-16T00:00:00Z</dcterms:created>
  <dcterms:modified xsi:type="dcterms:W3CDTF">2026-09-16T15:36:04Z</dcterms:modified>
  <dc:identifier>DAHVSDJwlsI</dc:identifier>
</cp:coreProperties>
</file>
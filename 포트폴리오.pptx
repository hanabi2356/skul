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1" r:id="rId3"/>
    <p:sldId id="262" r:id="rId4"/>
    <p:sldId id="263" r:id="rId5"/>
    <p:sldId id="264" r:id="rId6"/>
    <p:sldId id="265" r:id="rId7"/>
  </p:sldIdLst>
  <p:sldSz cx="18288000" cy="10287000"/>
  <p:notesSz cx="6858000" cy="9144000"/>
  <p:embeddedFontLst>
    <p:embeddedFont>
      <p:font typeface="윤고딕" panose="020B0600000101010101" charset="-127"/>
      <p:regular r:id="rId8"/>
    </p:embeddedFont>
    <p:embeddedFont>
      <p:font typeface="윤고딕 Light" panose="020B0600000101010101" charset="-127"/>
      <p:regular r:id="rId9"/>
    </p:embeddedFont>
    <p:embeddedFont>
      <p:font typeface="윤고딕 Thin" panose="020B0600000101010101" charset="-127"/>
      <p:regular r:id="rId10"/>
    </p:embeddedFont>
    <p:embeddedFont>
      <p:font typeface="Alexandria Bold" panose="020B0600000101010101" charset="-78"/>
      <p:regular r:id="rId11"/>
    </p:embeddedFont>
    <p:embeddedFont>
      <p:font typeface="Alexandria Light" panose="020B0600000101010101" charset="-78"/>
      <p:regular r:id="rId12"/>
    </p:embeddedFont>
    <p:embeddedFont>
      <p:font typeface="Alexandria Medium" panose="020B0600000101010101" charset="-78"/>
      <p:regular r:id="rId13"/>
    </p:embeddedFont>
    <p:embeddedFont>
      <p:font typeface="Alexandria Semi-Bold" panose="020B0600000101010101" charset="-78"/>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90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extBox 2"/>
          <p:cNvSpPr txBox="1"/>
          <p:nvPr/>
        </p:nvSpPr>
        <p:spPr>
          <a:xfrm>
            <a:off x="923925" y="6018297"/>
            <a:ext cx="12680226" cy="2605805"/>
          </a:xfrm>
          <a:prstGeom prst="rect">
            <a:avLst/>
          </a:prstGeom>
        </p:spPr>
        <p:txBody>
          <a:bodyPr lIns="0" tIns="0" rIns="0" bIns="0" rtlCol="0" anchor="t">
            <a:spAutoFit/>
          </a:bodyPr>
          <a:lstStyle/>
          <a:p>
            <a:pPr algn="l">
              <a:lnSpc>
                <a:spcPts val="21368"/>
              </a:lnSpc>
            </a:pPr>
            <a:r>
              <a:rPr lang="en-US" sz="15263" b="1" dirty="0">
                <a:solidFill>
                  <a:srgbClr val="FFFFFF"/>
                </a:solidFill>
                <a:latin typeface="Alexandria Bold"/>
                <a:ea typeface="Alexandria Bold"/>
                <a:cs typeface="Alexandria Bold"/>
                <a:sym typeface="Alexandria Bold"/>
              </a:rPr>
              <a:t>PORTFOLIO.</a:t>
            </a:r>
          </a:p>
        </p:txBody>
      </p:sp>
      <p:sp>
        <p:nvSpPr>
          <p:cNvPr id="3" name="TextBox 3"/>
          <p:cNvSpPr txBox="1"/>
          <p:nvPr/>
        </p:nvSpPr>
        <p:spPr>
          <a:xfrm>
            <a:off x="1028700" y="8897620"/>
            <a:ext cx="11923841" cy="374650"/>
          </a:xfrm>
          <a:prstGeom prst="rect">
            <a:avLst/>
          </a:prstGeom>
        </p:spPr>
        <p:txBody>
          <a:bodyPr lIns="0" tIns="0" rIns="0" bIns="0" rtlCol="0" anchor="t">
            <a:spAutoFit/>
          </a:bodyPr>
          <a:lstStyle/>
          <a:p>
            <a:pPr marL="0" lvl="0" indent="0" algn="l">
              <a:lnSpc>
                <a:spcPts val="3199"/>
              </a:lnSpc>
              <a:spcBef>
                <a:spcPct val="0"/>
              </a:spcBef>
            </a:pPr>
            <a:r>
              <a:rPr lang="ko-KR" altLang="en-US" sz="1999" dirty="0">
                <a:solidFill>
                  <a:srgbClr val="B4B4B4"/>
                </a:solidFill>
                <a:latin typeface="윤고딕 Light"/>
                <a:ea typeface="윤고딕 Light"/>
                <a:cs typeface="윤고딕 Light"/>
                <a:sym typeface="윤고딕 Light"/>
              </a:rPr>
              <a:t>정태민</a:t>
            </a:r>
            <a:r>
              <a:rPr lang="en-US" sz="1999" dirty="0">
                <a:solidFill>
                  <a:srgbClr val="B4B4B4"/>
                </a:solidFill>
                <a:latin typeface="윤고딕 Light"/>
                <a:ea typeface="윤고딕 Light"/>
                <a:cs typeface="윤고딕 Light"/>
                <a:sym typeface="윤고딕 Light"/>
              </a:rPr>
              <a:t>     PHONE: 010-4114-2196     MAIL: hanabira2356@gamil.com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extBox 2"/>
          <p:cNvSpPr txBox="1"/>
          <p:nvPr/>
        </p:nvSpPr>
        <p:spPr>
          <a:xfrm>
            <a:off x="1028700" y="771526"/>
            <a:ext cx="4364912" cy="264159"/>
          </a:xfrm>
          <a:prstGeom prst="rect">
            <a:avLst/>
          </a:prstGeom>
        </p:spPr>
        <p:txBody>
          <a:bodyPr lIns="0" tIns="0" rIns="0" bIns="0" rtlCol="0" anchor="t">
            <a:spAutoFit/>
          </a:bodyPr>
          <a:lstStyle/>
          <a:p>
            <a:pPr marL="0" lvl="0" indent="0" algn="l">
              <a:lnSpc>
                <a:spcPts val="2240"/>
              </a:lnSpc>
              <a:spcBef>
                <a:spcPct val="0"/>
              </a:spcBef>
            </a:pPr>
            <a:r>
              <a:rPr lang="en-US" sz="1600">
                <a:solidFill>
                  <a:srgbClr val="737373"/>
                </a:solidFill>
                <a:latin typeface="Alexandria Light"/>
                <a:ea typeface="Alexandria Light"/>
                <a:cs typeface="Alexandria Light"/>
                <a:sym typeface="Alexandria Light"/>
              </a:rPr>
              <a:t>PORTFOLIO</a:t>
            </a:r>
          </a:p>
        </p:txBody>
      </p:sp>
      <p:sp>
        <p:nvSpPr>
          <p:cNvPr id="4" name="AutoShape 4"/>
          <p:cNvSpPr/>
          <p:nvPr/>
        </p:nvSpPr>
        <p:spPr>
          <a:xfrm>
            <a:off x="1063336" y="4393627"/>
            <a:ext cx="8691248" cy="0"/>
          </a:xfrm>
          <a:prstGeom prst="line">
            <a:avLst/>
          </a:prstGeom>
          <a:ln w="9525" cap="flat">
            <a:solidFill>
              <a:srgbClr val="737373"/>
            </a:solidFill>
            <a:prstDash val="solid"/>
            <a:headEnd type="none" w="sm" len="sm"/>
            <a:tailEnd type="none" w="sm" len="sm"/>
          </a:ln>
        </p:spPr>
      </p:sp>
      <p:sp>
        <p:nvSpPr>
          <p:cNvPr id="6" name="TextBox 6"/>
          <p:cNvSpPr txBox="1"/>
          <p:nvPr/>
        </p:nvSpPr>
        <p:spPr>
          <a:xfrm>
            <a:off x="1063336" y="3797446"/>
            <a:ext cx="3927069" cy="403187"/>
          </a:xfrm>
          <a:prstGeom prst="rect">
            <a:avLst/>
          </a:prstGeom>
        </p:spPr>
        <p:txBody>
          <a:bodyPr lIns="0" tIns="0" rIns="0" bIns="0" rtlCol="0" anchor="t">
            <a:spAutoFit/>
          </a:bodyPr>
          <a:lstStyle/>
          <a:p>
            <a:pPr marL="0" lvl="0" indent="0" algn="l">
              <a:lnSpc>
                <a:spcPts val="3366"/>
              </a:lnSpc>
              <a:spcBef>
                <a:spcPct val="0"/>
              </a:spcBef>
            </a:pPr>
            <a:r>
              <a:rPr lang="en-US" sz="2404" b="1" u="none" strike="noStrike" dirty="0">
                <a:solidFill>
                  <a:srgbClr val="FFFFFF"/>
                </a:solidFill>
                <a:latin typeface="Alexandria Medium"/>
                <a:ea typeface="Alexandria Medium"/>
                <a:cs typeface="Alexandria Medium"/>
                <a:sym typeface="Alexandria Medium"/>
              </a:rPr>
              <a:t>Language</a:t>
            </a:r>
          </a:p>
        </p:txBody>
      </p:sp>
      <p:sp>
        <p:nvSpPr>
          <p:cNvPr id="9" name="TextBox 9"/>
          <p:cNvSpPr txBox="1"/>
          <p:nvPr/>
        </p:nvSpPr>
        <p:spPr>
          <a:xfrm>
            <a:off x="1028700" y="1287663"/>
            <a:ext cx="5846044" cy="1609207"/>
          </a:xfrm>
          <a:prstGeom prst="rect">
            <a:avLst/>
          </a:prstGeom>
        </p:spPr>
        <p:txBody>
          <a:bodyPr lIns="0" tIns="0" rIns="0" bIns="0" rtlCol="0" anchor="t">
            <a:spAutoFit/>
          </a:bodyPr>
          <a:lstStyle/>
          <a:p>
            <a:pPr algn="l">
              <a:lnSpc>
                <a:spcPts val="13153"/>
              </a:lnSpc>
            </a:pPr>
            <a:r>
              <a:rPr lang="en-US" sz="9395" b="1">
                <a:solidFill>
                  <a:srgbClr val="FFFFFF"/>
                </a:solidFill>
                <a:latin typeface="Alexandria Semi-Bold"/>
                <a:ea typeface="Alexandria Semi-Bold"/>
                <a:cs typeface="Alexandria Semi-Bold"/>
                <a:sym typeface="Alexandria Semi-Bold"/>
              </a:rPr>
              <a:t>SKILL</a:t>
            </a:r>
          </a:p>
        </p:txBody>
      </p:sp>
      <p:pic>
        <p:nvPicPr>
          <p:cNvPr id="15" name="그림 14">
            <a:extLst>
              <a:ext uri="{FF2B5EF4-FFF2-40B4-BE49-F238E27FC236}">
                <a16:creationId xmlns:a16="http://schemas.microsoft.com/office/drawing/2014/main" id="{C3822B47-1A59-F125-D1F9-455D31884C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3336" y="4586622"/>
            <a:ext cx="848591" cy="953972"/>
          </a:xfrm>
          <a:prstGeom prst="rect">
            <a:avLst/>
          </a:prstGeom>
        </p:spPr>
      </p:pic>
      <p:pic>
        <p:nvPicPr>
          <p:cNvPr id="17" name="그림 16">
            <a:extLst>
              <a:ext uri="{FF2B5EF4-FFF2-40B4-BE49-F238E27FC236}">
                <a16:creationId xmlns:a16="http://schemas.microsoft.com/office/drawing/2014/main" id="{D97B8ECB-FB91-5E11-CBF8-9B6D061816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9652" y="4275912"/>
            <a:ext cx="1650593" cy="1650593"/>
          </a:xfrm>
          <a:prstGeom prst="rect">
            <a:avLst/>
          </a:prstGeom>
        </p:spPr>
      </p:pic>
      <p:pic>
        <p:nvPicPr>
          <p:cNvPr id="19" name="그림 18">
            <a:extLst>
              <a:ext uri="{FF2B5EF4-FFF2-40B4-BE49-F238E27FC236}">
                <a16:creationId xmlns:a16="http://schemas.microsoft.com/office/drawing/2014/main" id="{158428CF-3EA0-9268-8662-8C6A8769E1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62200" y="4457700"/>
            <a:ext cx="2168261" cy="12196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grpSp>
        <p:nvGrpSpPr>
          <p:cNvPr id="2" name="Group 2"/>
          <p:cNvGrpSpPr/>
          <p:nvPr/>
        </p:nvGrpSpPr>
        <p:grpSpPr>
          <a:xfrm>
            <a:off x="-85600" y="3310904"/>
            <a:ext cx="18459200" cy="7122839"/>
            <a:chOff x="0" y="0"/>
            <a:chExt cx="1521558" cy="587123"/>
          </a:xfrm>
        </p:grpSpPr>
        <p:sp>
          <p:nvSpPr>
            <p:cNvPr id="3" name="Freeform 3"/>
            <p:cNvSpPr/>
            <p:nvPr/>
          </p:nvSpPr>
          <p:spPr>
            <a:xfrm>
              <a:off x="0" y="0"/>
              <a:ext cx="1521558" cy="587123"/>
            </a:xfrm>
            <a:custGeom>
              <a:avLst/>
              <a:gdLst/>
              <a:ahLst/>
              <a:cxnLst/>
              <a:rect l="l" t="t" r="r" b="b"/>
              <a:pathLst>
                <a:path w="1521558" h="587123">
                  <a:moveTo>
                    <a:pt x="0" y="0"/>
                  </a:moveTo>
                  <a:lnTo>
                    <a:pt x="1521558" y="0"/>
                  </a:lnTo>
                  <a:lnTo>
                    <a:pt x="1521558" y="587123"/>
                  </a:lnTo>
                  <a:lnTo>
                    <a:pt x="0" y="587123"/>
                  </a:lnTo>
                  <a:close/>
                </a:path>
              </a:pathLst>
            </a:custGeom>
            <a:blipFill>
              <a:blip r:embed="rId2"/>
              <a:stretch>
                <a:fillRect t="-36385" b="-36385"/>
              </a:stretch>
            </a:blipFill>
          </p:spPr>
        </p:sp>
      </p:grpSp>
      <p:sp>
        <p:nvSpPr>
          <p:cNvPr id="4" name="TextBox 4"/>
          <p:cNvSpPr txBox="1"/>
          <p:nvPr/>
        </p:nvSpPr>
        <p:spPr>
          <a:xfrm>
            <a:off x="1028700" y="771526"/>
            <a:ext cx="4364912" cy="264159"/>
          </a:xfrm>
          <a:prstGeom prst="rect">
            <a:avLst/>
          </a:prstGeom>
        </p:spPr>
        <p:txBody>
          <a:bodyPr lIns="0" tIns="0" rIns="0" bIns="0" rtlCol="0" anchor="t">
            <a:spAutoFit/>
          </a:bodyPr>
          <a:lstStyle/>
          <a:p>
            <a:pPr marL="0" lvl="0" indent="0" algn="l">
              <a:lnSpc>
                <a:spcPts val="2240"/>
              </a:lnSpc>
              <a:spcBef>
                <a:spcPct val="0"/>
              </a:spcBef>
            </a:pPr>
            <a:r>
              <a:rPr lang="en-US" sz="1600">
                <a:solidFill>
                  <a:srgbClr val="737373"/>
                </a:solidFill>
                <a:latin typeface="Alexandria Light"/>
                <a:ea typeface="Alexandria Light"/>
                <a:cs typeface="Alexandria Light"/>
                <a:sym typeface="Alexandria Light"/>
              </a:rPr>
              <a:t>PORTFOLIO</a:t>
            </a:r>
          </a:p>
        </p:txBody>
      </p:sp>
      <p:sp>
        <p:nvSpPr>
          <p:cNvPr id="5" name="TextBox 5"/>
          <p:cNvSpPr txBox="1"/>
          <p:nvPr/>
        </p:nvSpPr>
        <p:spPr>
          <a:xfrm>
            <a:off x="14924376" y="771526"/>
            <a:ext cx="2334918" cy="264159"/>
          </a:xfrm>
          <a:prstGeom prst="rect">
            <a:avLst/>
          </a:prstGeom>
        </p:spPr>
        <p:txBody>
          <a:bodyPr lIns="0" tIns="0" rIns="0" bIns="0" rtlCol="0" anchor="t">
            <a:spAutoFit/>
          </a:bodyPr>
          <a:lstStyle/>
          <a:p>
            <a:pPr marL="0" lvl="0" indent="0" algn="r">
              <a:lnSpc>
                <a:spcPts val="2240"/>
              </a:lnSpc>
              <a:spcBef>
                <a:spcPct val="0"/>
              </a:spcBef>
            </a:pPr>
            <a:r>
              <a:rPr lang="en-US" sz="1600" u="none" strike="noStrike">
                <a:solidFill>
                  <a:srgbClr val="737373"/>
                </a:solidFill>
                <a:latin typeface="Alexandria Light"/>
                <a:ea typeface="Alexandria Light"/>
                <a:cs typeface="Alexandria Light"/>
                <a:sym typeface="Alexandria Light"/>
              </a:rPr>
              <a:t>2020 - 2050</a:t>
            </a:r>
          </a:p>
        </p:txBody>
      </p:sp>
      <p:sp>
        <p:nvSpPr>
          <p:cNvPr id="6" name="TextBox 6"/>
          <p:cNvSpPr txBox="1"/>
          <p:nvPr/>
        </p:nvSpPr>
        <p:spPr>
          <a:xfrm>
            <a:off x="1028700" y="1286970"/>
            <a:ext cx="5882762" cy="706181"/>
          </a:xfrm>
          <a:prstGeom prst="rect">
            <a:avLst/>
          </a:prstGeom>
        </p:spPr>
        <p:txBody>
          <a:bodyPr lIns="0" tIns="0" rIns="0" bIns="0" rtlCol="0" anchor="t">
            <a:spAutoFit/>
          </a:bodyPr>
          <a:lstStyle/>
          <a:p>
            <a:pPr algn="l">
              <a:lnSpc>
                <a:spcPts val="5837"/>
              </a:lnSpc>
            </a:pPr>
            <a:r>
              <a:rPr lang="en-US" sz="3998" spc="79" dirty="0" err="1">
                <a:solidFill>
                  <a:srgbClr val="FFFFFF"/>
                </a:solidFill>
                <a:latin typeface="윤고딕"/>
                <a:ea typeface="윤고딕"/>
                <a:cs typeface="윤고딕"/>
                <a:sym typeface="윤고딕"/>
              </a:rPr>
              <a:t>브랜드</a:t>
            </a:r>
            <a:r>
              <a:rPr lang="en-US" sz="3998" spc="79" dirty="0">
                <a:solidFill>
                  <a:srgbClr val="FFFFFF"/>
                </a:solidFill>
                <a:latin typeface="윤고딕"/>
                <a:ea typeface="윤고딕"/>
                <a:cs typeface="윤고딕"/>
                <a:sym typeface="윤고딕"/>
              </a:rPr>
              <a:t> </a:t>
            </a:r>
            <a:r>
              <a:rPr lang="en-US" sz="3998" spc="79" dirty="0" err="1">
                <a:solidFill>
                  <a:srgbClr val="FFFFFF"/>
                </a:solidFill>
                <a:latin typeface="윤고딕"/>
                <a:ea typeface="윤고딕"/>
                <a:cs typeface="윤고딕"/>
                <a:sym typeface="윤고딕"/>
              </a:rPr>
              <a:t>디자인</a:t>
            </a:r>
            <a:r>
              <a:rPr lang="en-US" sz="3998" spc="79" dirty="0">
                <a:solidFill>
                  <a:srgbClr val="FFFFFF"/>
                </a:solidFill>
                <a:latin typeface="윤고딕"/>
                <a:ea typeface="윤고딕"/>
                <a:cs typeface="윤고딕"/>
                <a:sym typeface="윤고딕"/>
              </a:rPr>
              <a:t> </a:t>
            </a:r>
            <a:r>
              <a:rPr lang="en-US" sz="3998" spc="79" dirty="0" err="1">
                <a:solidFill>
                  <a:srgbClr val="FFFFFF"/>
                </a:solidFill>
                <a:latin typeface="윤고딕"/>
                <a:ea typeface="윤고딕"/>
                <a:cs typeface="윤고딕"/>
                <a:sym typeface="윤고딕"/>
              </a:rPr>
              <a:t>프로젝트</a:t>
            </a:r>
            <a:endParaRPr lang="en-US" sz="3998" spc="79" dirty="0">
              <a:solidFill>
                <a:srgbClr val="FFFFFF"/>
              </a:solidFill>
              <a:latin typeface="윤고딕"/>
              <a:ea typeface="윤고딕"/>
              <a:cs typeface="윤고딕"/>
              <a:sym typeface="윤고딕"/>
            </a:endParaRPr>
          </a:p>
        </p:txBody>
      </p:sp>
      <p:sp>
        <p:nvSpPr>
          <p:cNvPr id="7" name="TextBox 7"/>
          <p:cNvSpPr txBox="1"/>
          <p:nvPr/>
        </p:nvSpPr>
        <p:spPr>
          <a:xfrm>
            <a:off x="1028700" y="2146698"/>
            <a:ext cx="2750145" cy="332740"/>
          </a:xfrm>
          <a:prstGeom prst="rect">
            <a:avLst/>
          </a:prstGeom>
        </p:spPr>
        <p:txBody>
          <a:bodyPr lIns="0" tIns="0" rIns="0" bIns="0" rtlCol="0" anchor="t">
            <a:spAutoFit/>
          </a:bodyPr>
          <a:lstStyle/>
          <a:p>
            <a:pPr algn="l">
              <a:lnSpc>
                <a:spcPts val="2659"/>
              </a:lnSpc>
            </a:pPr>
            <a:r>
              <a:rPr lang="en-US" sz="1899">
                <a:solidFill>
                  <a:srgbClr val="FFFFFF"/>
                </a:solidFill>
                <a:latin typeface="윤고딕"/>
                <a:ea typeface="윤고딕"/>
                <a:cs typeface="윤고딕"/>
                <a:sym typeface="윤고딕"/>
              </a:rPr>
              <a:t>2050. 01. 02</a:t>
            </a:r>
          </a:p>
        </p:txBody>
      </p:sp>
      <p:sp>
        <p:nvSpPr>
          <p:cNvPr id="8" name="TextBox 8"/>
          <p:cNvSpPr txBox="1"/>
          <p:nvPr/>
        </p:nvSpPr>
        <p:spPr>
          <a:xfrm>
            <a:off x="6911462" y="1391426"/>
            <a:ext cx="10347832" cy="1309878"/>
          </a:xfrm>
          <a:prstGeom prst="rect">
            <a:avLst/>
          </a:prstGeom>
        </p:spPr>
        <p:txBody>
          <a:bodyPr lIns="0" tIns="0" rIns="0" bIns="0" rtlCol="0" anchor="t">
            <a:spAutoFit/>
          </a:bodyPr>
          <a:lstStyle/>
          <a:p>
            <a:pPr algn="just">
              <a:lnSpc>
                <a:spcPts val="2600"/>
              </a:lnSpc>
            </a:pPr>
            <a:r>
              <a:rPr lang="en-US" sz="1699">
                <a:solidFill>
                  <a:srgbClr val="FFFFFF"/>
                </a:solidFill>
                <a:latin typeface="윤고딕 Thin"/>
                <a:ea typeface="윤고딕 Thin"/>
                <a:cs typeface="윤고딕 Thin"/>
                <a:sym typeface="윤고딕 Thin"/>
              </a:rPr>
              <a:t>이 프로젝트는 브랜드 아이덴티티를 강화하고 소비자의 관심을 유도하기 위해 설계되었습니다. 블랙 앤 화이트 테마를 통해 현대적이고 간결한 매력을 강조하며, 친환경 소재를 활용하여 지속 가능성을 고려하였습니다. 독창적인 그래픽을 통해 제품의 특성을 효과적으로 표현하고, 소비자 경험을 최우선으로 하여 사용의 편리성과 시각적 매력을 동시에 충족하는 디자인을 구현하였습니다.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grpSp>
        <p:nvGrpSpPr>
          <p:cNvPr id="2" name="Group 2"/>
          <p:cNvGrpSpPr/>
          <p:nvPr/>
        </p:nvGrpSpPr>
        <p:grpSpPr>
          <a:xfrm>
            <a:off x="-73371" y="3310904"/>
            <a:ext cx="9222175" cy="7122839"/>
            <a:chOff x="0" y="0"/>
            <a:chExt cx="760167" cy="587123"/>
          </a:xfrm>
        </p:grpSpPr>
        <p:sp>
          <p:nvSpPr>
            <p:cNvPr id="3" name="Freeform 3"/>
            <p:cNvSpPr/>
            <p:nvPr/>
          </p:nvSpPr>
          <p:spPr>
            <a:xfrm>
              <a:off x="0" y="0"/>
              <a:ext cx="760167" cy="587123"/>
            </a:xfrm>
            <a:custGeom>
              <a:avLst/>
              <a:gdLst/>
              <a:ahLst/>
              <a:cxnLst/>
              <a:rect l="l" t="t" r="r" b="b"/>
              <a:pathLst>
                <a:path w="760167" h="587123">
                  <a:moveTo>
                    <a:pt x="0" y="0"/>
                  </a:moveTo>
                  <a:lnTo>
                    <a:pt x="760167" y="0"/>
                  </a:lnTo>
                  <a:lnTo>
                    <a:pt x="760167" y="587123"/>
                  </a:lnTo>
                  <a:lnTo>
                    <a:pt x="0" y="587123"/>
                  </a:lnTo>
                  <a:close/>
                </a:path>
              </a:pathLst>
            </a:custGeom>
            <a:blipFill>
              <a:blip r:embed="rId2"/>
              <a:stretch>
                <a:fillRect l="-7927" r="-7926"/>
              </a:stretch>
            </a:blipFill>
          </p:spPr>
        </p:sp>
      </p:grpSp>
      <p:grpSp>
        <p:nvGrpSpPr>
          <p:cNvPr id="4" name="Group 4"/>
          <p:cNvGrpSpPr/>
          <p:nvPr/>
        </p:nvGrpSpPr>
        <p:grpSpPr>
          <a:xfrm>
            <a:off x="9139197" y="3310904"/>
            <a:ext cx="9222175" cy="7122839"/>
            <a:chOff x="0" y="0"/>
            <a:chExt cx="760167" cy="587123"/>
          </a:xfrm>
        </p:grpSpPr>
        <p:sp>
          <p:nvSpPr>
            <p:cNvPr id="5" name="Freeform 5"/>
            <p:cNvSpPr/>
            <p:nvPr/>
          </p:nvSpPr>
          <p:spPr>
            <a:xfrm>
              <a:off x="0" y="0"/>
              <a:ext cx="760167" cy="587123"/>
            </a:xfrm>
            <a:custGeom>
              <a:avLst/>
              <a:gdLst/>
              <a:ahLst/>
              <a:cxnLst/>
              <a:rect l="l" t="t" r="r" b="b"/>
              <a:pathLst>
                <a:path w="760167" h="587123">
                  <a:moveTo>
                    <a:pt x="0" y="0"/>
                  </a:moveTo>
                  <a:lnTo>
                    <a:pt x="760167" y="0"/>
                  </a:lnTo>
                  <a:lnTo>
                    <a:pt x="760167" y="587123"/>
                  </a:lnTo>
                  <a:lnTo>
                    <a:pt x="0" y="587123"/>
                  </a:lnTo>
                  <a:close/>
                </a:path>
              </a:pathLst>
            </a:custGeom>
            <a:blipFill>
              <a:blip r:embed="rId3"/>
              <a:stretch>
                <a:fillRect l="-7927" r="-7926"/>
              </a:stretch>
            </a:blipFill>
          </p:spPr>
        </p:sp>
      </p:grpSp>
      <p:sp>
        <p:nvSpPr>
          <p:cNvPr id="6" name="TextBox 6"/>
          <p:cNvSpPr txBox="1"/>
          <p:nvPr/>
        </p:nvSpPr>
        <p:spPr>
          <a:xfrm>
            <a:off x="1028700" y="771526"/>
            <a:ext cx="4364912" cy="264159"/>
          </a:xfrm>
          <a:prstGeom prst="rect">
            <a:avLst/>
          </a:prstGeom>
        </p:spPr>
        <p:txBody>
          <a:bodyPr lIns="0" tIns="0" rIns="0" bIns="0" rtlCol="0" anchor="t">
            <a:spAutoFit/>
          </a:bodyPr>
          <a:lstStyle/>
          <a:p>
            <a:pPr marL="0" lvl="0" indent="0" algn="l">
              <a:lnSpc>
                <a:spcPts val="2240"/>
              </a:lnSpc>
              <a:spcBef>
                <a:spcPct val="0"/>
              </a:spcBef>
            </a:pPr>
            <a:r>
              <a:rPr lang="en-US" sz="1600">
                <a:solidFill>
                  <a:srgbClr val="737373"/>
                </a:solidFill>
                <a:latin typeface="Alexandria Light"/>
                <a:ea typeface="Alexandria Light"/>
                <a:cs typeface="Alexandria Light"/>
                <a:sym typeface="Alexandria Light"/>
              </a:rPr>
              <a:t>PORTFOLIO</a:t>
            </a:r>
          </a:p>
        </p:txBody>
      </p:sp>
      <p:sp>
        <p:nvSpPr>
          <p:cNvPr id="7" name="TextBox 7"/>
          <p:cNvSpPr txBox="1"/>
          <p:nvPr/>
        </p:nvSpPr>
        <p:spPr>
          <a:xfrm>
            <a:off x="14924376" y="771526"/>
            <a:ext cx="2334918" cy="264159"/>
          </a:xfrm>
          <a:prstGeom prst="rect">
            <a:avLst/>
          </a:prstGeom>
        </p:spPr>
        <p:txBody>
          <a:bodyPr lIns="0" tIns="0" rIns="0" bIns="0" rtlCol="0" anchor="t">
            <a:spAutoFit/>
          </a:bodyPr>
          <a:lstStyle/>
          <a:p>
            <a:pPr marL="0" lvl="0" indent="0" algn="r">
              <a:lnSpc>
                <a:spcPts val="2240"/>
              </a:lnSpc>
              <a:spcBef>
                <a:spcPct val="0"/>
              </a:spcBef>
            </a:pPr>
            <a:r>
              <a:rPr lang="en-US" sz="1600" u="none" strike="noStrike">
                <a:solidFill>
                  <a:srgbClr val="737373"/>
                </a:solidFill>
                <a:latin typeface="Alexandria Light"/>
                <a:ea typeface="Alexandria Light"/>
                <a:cs typeface="Alexandria Light"/>
                <a:sym typeface="Alexandria Light"/>
              </a:rPr>
              <a:t>2020 - 2050</a:t>
            </a:r>
          </a:p>
        </p:txBody>
      </p:sp>
      <p:sp>
        <p:nvSpPr>
          <p:cNvPr id="8" name="TextBox 8"/>
          <p:cNvSpPr txBox="1"/>
          <p:nvPr/>
        </p:nvSpPr>
        <p:spPr>
          <a:xfrm>
            <a:off x="1028700" y="1286970"/>
            <a:ext cx="5882762" cy="706181"/>
          </a:xfrm>
          <a:prstGeom prst="rect">
            <a:avLst/>
          </a:prstGeom>
        </p:spPr>
        <p:txBody>
          <a:bodyPr lIns="0" tIns="0" rIns="0" bIns="0" rtlCol="0" anchor="t">
            <a:spAutoFit/>
          </a:bodyPr>
          <a:lstStyle/>
          <a:p>
            <a:pPr algn="l">
              <a:lnSpc>
                <a:spcPts val="5837"/>
              </a:lnSpc>
            </a:pPr>
            <a:r>
              <a:rPr lang="en-US" sz="3998" spc="79">
                <a:solidFill>
                  <a:srgbClr val="FFFFFF"/>
                </a:solidFill>
                <a:latin typeface="윤고딕"/>
                <a:ea typeface="윤고딕"/>
                <a:cs typeface="윤고딕"/>
                <a:sym typeface="윤고딕"/>
              </a:rPr>
              <a:t>그래픽 디자인 프로젝트</a:t>
            </a:r>
          </a:p>
        </p:txBody>
      </p:sp>
      <p:sp>
        <p:nvSpPr>
          <p:cNvPr id="9" name="TextBox 9"/>
          <p:cNvSpPr txBox="1"/>
          <p:nvPr/>
        </p:nvSpPr>
        <p:spPr>
          <a:xfrm>
            <a:off x="1028700" y="2146698"/>
            <a:ext cx="2750145" cy="332740"/>
          </a:xfrm>
          <a:prstGeom prst="rect">
            <a:avLst/>
          </a:prstGeom>
        </p:spPr>
        <p:txBody>
          <a:bodyPr lIns="0" tIns="0" rIns="0" bIns="0" rtlCol="0" anchor="t">
            <a:spAutoFit/>
          </a:bodyPr>
          <a:lstStyle/>
          <a:p>
            <a:pPr algn="l">
              <a:lnSpc>
                <a:spcPts val="2659"/>
              </a:lnSpc>
            </a:pPr>
            <a:r>
              <a:rPr lang="en-US" sz="1899">
                <a:solidFill>
                  <a:srgbClr val="FFFFFF"/>
                </a:solidFill>
                <a:latin typeface="윤고딕"/>
                <a:ea typeface="윤고딕"/>
                <a:cs typeface="윤고딕"/>
                <a:sym typeface="윤고딕"/>
              </a:rPr>
              <a:t>2050. 01. 02</a:t>
            </a:r>
          </a:p>
        </p:txBody>
      </p:sp>
      <p:sp>
        <p:nvSpPr>
          <p:cNvPr id="10" name="TextBox 10"/>
          <p:cNvSpPr txBox="1"/>
          <p:nvPr/>
        </p:nvSpPr>
        <p:spPr>
          <a:xfrm>
            <a:off x="6911462" y="1391426"/>
            <a:ext cx="10347832" cy="1309878"/>
          </a:xfrm>
          <a:prstGeom prst="rect">
            <a:avLst/>
          </a:prstGeom>
        </p:spPr>
        <p:txBody>
          <a:bodyPr lIns="0" tIns="0" rIns="0" bIns="0" rtlCol="0" anchor="t">
            <a:spAutoFit/>
          </a:bodyPr>
          <a:lstStyle/>
          <a:p>
            <a:pPr algn="just">
              <a:lnSpc>
                <a:spcPts val="2600"/>
              </a:lnSpc>
            </a:pPr>
            <a:r>
              <a:rPr lang="en-US" sz="1699">
                <a:solidFill>
                  <a:srgbClr val="FFFFFF"/>
                </a:solidFill>
                <a:latin typeface="윤고딕 Thin"/>
                <a:ea typeface="윤고딕 Thin"/>
                <a:cs typeface="윤고딕 Thin"/>
                <a:sym typeface="윤고딕 Thin"/>
              </a:rPr>
              <a:t>이 프로젝트는 브랜드 아이덴티티를 강화하고 소비자의 관심을 끌기 위해 기획되었습니다. 화이트 모던 테마를 중심으로 세련된 매력을 강조하고, 빨간색 시침을 포인트로 하여 시각적 흥미를 더했습니다. 친환경 소재를 사용하여 지속 가능성을 고려했으며, 독창적인 그래픽으로 제품의 특성을 효과적으로 전달했습니다. 소비자 경험을 최우선으로 하여 사용의 편리함과 시각적 매력을 동시에 만족시키는 시계 디자인을 실현했습니다.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grpSp>
        <p:nvGrpSpPr>
          <p:cNvPr id="2" name="Group 2"/>
          <p:cNvGrpSpPr/>
          <p:nvPr/>
        </p:nvGrpSpPr>
        <p:grpSpPr>
          <a:xfrm>
            <a:off x="-111160" y="3310904"/>
            <a:ext cx="6176396" cy="7122839"/>
            <a:chOff x="0" y="0"/>
            <a:chExt cx="509109" cy="587123"/>
          </a:xfrm>
        </p:grpSpPr>
        <p:sp>
          <p:nvSpPr>
            <p:cNvPr id="3" name="Freeform 3"/>
            <p:cNvSpPr/>
            <p:nvPr/>
          </p:nvSpPr>
          <p:spPr>
            <a:xfrm>
              <a:off x="0" y="0"/>
              <a:ext cx="509109" cy="587123"/>
            </a:xfrm>
            <a:custGeom>
              <a:avLst/>
              <a:gdLst/>
              <a:ahLst/>
              <a:cxnLst/>
              <a:rect l="l" t="t" r="r" b="b"/>
              <a:pathLst>
                <a:path w="509109" h="587123">
                  <a:moveTo>
                    <a:pt x="0" y="0"/>
                  </a:moveTo>
                  <a:lnTo>
                    <a:pt x="509109" y="0"/>
                  </a:lnTo>
                  <a:lnTo>
                    <a:pt x="509109" y="587123"/>
                  </a:lnTo>
                  <a:lnTo>
                    <a:pt x="0" y="587123"/>
                  </a:lnTo>
                  <a:close/>
                </a:path>
              </a:pathLst>
            </a:custGeom>
            <a:blipFill>
              <a:blip r:embed="rId2"/>
              <a:stretch>
                <a:fillRect l="-36465" r="-36465"/>
              </a:stretch>
            </a:blipFill>
          </p:spPr>
        </p:sp>
      </p:grpSp>
      <p:grpSp>
        <p:nvGrpSpPr>
          <p:cNvPr id="4" name="Group 4"/>
          <p:cNvGrpSpPr/>
          <p:nvPr/>
        </p:nvGrpSpPr>
        <p:grpSpPr>
          <a:xfrm>
            <a:off x="6058802" y="3310904"/>
            <a:ext cx="6176396" cy="7122839"/>
            <a:chOff x="0" y="0"/>
            <a:chExt cx="509109" cy="587123"/>
          </a:xfrm>
        </p:grpSpPr>
        <p:sp>
          <p:nvSpPr>
            <p:cNvPr id="5" name="Freeform 5"/>
            <p:cNvSpPr/>
            <p:nvPr/>
          </p:nvSpPr>
          <p:spPr>
            <a:xfrm>
              <a:off x="0" y="0"/>
              <a:ext cx="509109" cy="587123"/>
            </a:xfrm>
            <a:custGeom>
              <a:avLst/>
              <a:gdLst/>
              <a:ahLst/>
              <a:cxnLst/>
              <a:rect l="l" t="t" r="r" b="b"/>
              <a:pathLst>
                <a:path w="509109" h="587123">
                  <a:moveTo>
                    <a:pt x="0" y="0"/>
                  </a:moveTo>
                  <a:lnTo>
                    <a:pt x="509109" y="0"/>
                  </a:lnTo>
                  <a:lnTo>
                    <a:pt x="509109" y="587123"/>
                  </a:lnTo>
                  <a:lnTo>
                    <a:pt x="0" y="587123"/>
                  </a:lnTo>
                  <a:close/>
                </a:path>
              </a:pathLst>
            </a:custGeom>
            <a:blipFill>
              <a:blip r:embed="rId3"/>
              <a:stretch>
                <a:fillRect t="-10426" b="-10426"/>
              </a:stretch>
            </a:blipFill>
          </p:spPr>
        </p:sp>
      </p:grpSp>
      <p:grpSp>
        <p:nvGrpSpPr>
          <p:cNvPr id="6" name="Group 6"/>
          <p:cNvGrpSpPr/>
          <p:nvPr/>
        </p:nvGrpSpPr>
        <p:grpSpPr>
          <a:xfrm>
            <a:off x="12222765" y="3310904"/>
            <a:ext cx="6176396" cy="7122839"/>
            <a:chOff x="0" y="0"/>
            <a:chExt cx="509109" cy="587123"/>
          </a:xfrm>
        </p:grpSpPr>
        <p:sp>
          <p:nvSpPr>
            <p:cNvPr id="7" name="Freeform 7"/>
            <p:cNvSpPr/>
            <p:nvPr/>
          </p:nvSpPr>
          <p:spPr>
            <a:xfrm>
              <a:off x="0" y="0"/>
              <a:ext cx="509109" cy="587123"/>
            </a:xfrm>
            <a:custGeom>
              <a:avLst/>
              <a:gdLst/>
              <a:ahLst/>
              <a:cxnLst/>
              <a:rect l="l" t="t" r="r" b="b"/>
              <a:pathLst>
                <a:path w="509109" h="587123">
                  <a:moveTo>
                    <a:pt x="0" y="0"/>
                  </a:moveTo>
                  <a:lnTo>
                    <a:pt x="509109" y="0"/>
                  </a:lnTo>
                  <a:lnTo>
                    <a:pt x="509109" y="587123"/>
                  </a:lnTo>
                  <a:lnTo>
                    <a:pt x="0" y="587123"/>
                  </a:lnTo>
                  <a:close/>
                </a:path>
              </a:pathLst>
            </a:custGeom>
            <a:blipFill>
              <a:blip r:embed="rId4"/>
              <a:stretch>
                <a:fillRect t="-14975" b="-14975"/>
              </a:stretch>
            </a:blipFill>
          </p:spPr>
        </p:sp>
      </p:grpSp>
      <p:sp>
        <p:nvSpPr>
          <p:cNvPr id="8" name="TextBox 8"/>
          <p:cNvSpPr txBox="1"/>
          <p:nvPr/>
        </p:nvSpPr>
        <p:spPr>
          <a:xfrm>
            <a:off x="1028700" y="771526"/>
            <a:ext cx="4364912" cy="264159"/>
          </a:xfrm>
          <a:prstGeom prst="rect">
            <a:avLst/>
          </a:prstGeom>
        </p:spPr>
        <p:txBody>
          <a:bodyPr lIns="0" tIns="0" rIns="0" bIns="0" rtlCol="0" anchor="t">
            <a:spAutoFit/>
          </a:bodyPr>
          <a:lstStyle/>
          <a:p>
            <a:pPr marL="0" lvl="0" indent="0" algn="l">
              <a:lnSpc>
                <a:spcPts val="2240"/>
              </a:lnSpc>
              <a:spcBef>
                <a:spcPct val="0"/>
              </a:spcBef>
            </a:pPr>
            <a:r>
              <a:rPr lang="en-US" sz="1600">
                <a:solidFill>
                  <a:srgbClr val="737373"/>
                </a:solidFill>
                <a:latin typeface="Alexandria Light"/>
                <a:ea typeface="Alexandria Light"/>
                <a:cs typeface="Alexandria Light"/>
                <a:sym typeface="Alexandria Light"/>
              </a:rPr>
              <a:t>PORTFOLIO</a:t>
            </a:r>
          </a:p>
        </p:txBody>
      </p:sp>
      <p:sp>
        <p:nvSpPr>
          <p:cNvPr id="9" name="TextBox 9"/>
          <p:cNvSpPr txBox="1"/>
          <p:nvPr/>
        </p:nvSpPr>
        <p:spPr>
          <a:xfrm>
            <a:off x="14924376" y="771526"/>
            <a:ext cx="2334918" cy="264159"/>
          </a:xfrm>
          <a:prstGeom prst="rect">
            <a:avLst/>
          </a:prstGeom>
        </p:spPr>
        <p:txBody>
          <a:bodyPr lIns="0" tIns="0" rIns="0" bIns="0" rtlCol="0" anchor="t">
            <a:spAutoFit/>
          </a:bodyPr>
          <a:lstStyle/>
          <a:p>
            <a:pPr marL="0" lvl="0" indent="0" algn="r">
              <a:lnSpc>
                <a:spcPts val="2240"/>
              </a:lnSpc>
              <a:spcBef>
                <a:spcPct val="0"/>
              </a:spcBef>
            </a:pPr>
            <a:r>
              <a:rPr lang="en-US" sz="1600" u="none" strike="noStrike">
                <a:solidFill>
                  <a:srgbClr val="737373"/>
                </a:solidFill>
                <a:latin typeface="Alexandria Light"/>
                <a:ea typeface="Alexandria Light"/>
                <a:cs typeface="Alexandria Light"/>
                <a:sym typeface="Alexandria Light"/>
              </a:rPr>
              <a:t>2020 - 2050</a:t>
            </a:r>
          </a:p>
        </p:txBody>
      </p:sp>
      <p:sp>
        <p:nvSpPr>
          <p:cNvPr id="10" name="TextBox 10"/>
          <p:cNvSpPr txBox="1"/>
          <p:nvPr/>
        </p:nvSpPr>
        <p:spPr>
          <a:xfrm>
            <a:off x="1028700" y="1286970"/>
            <a:ext cx="5882762" cy="706181"/>
          </a:xfrm>
          <a:prstGeom prst="rect">
            <a:avLst/>
          </a:prstGeom>
        </p:spPr>
        <p:txBody>
          <a:bodyPr lIns="0" tIns="0" rIns="0" bIns="0" rtlCol="0" anchor="t">
            <a:spAutoFit/>
          </a:bodyPr>
          <a:lstStyle/>
          <a:p>
            <a:pPr algn="l">
              <a:lnSpc>
                <a:spcPts val="5837"/>
              </a:lnSpc>
            </a:pPr>
            <a:r>
              <a:rPr lang="en-US" sz="3998" spc="79">
                <a:solidFill>
                  <a:srgbClr val="FFFFFF"/>
                </a:solidFill>
                <a:latin typeface="윤고딕"/>
                <a:ea typeface="윤고딕"/>
                <a:cs typeface="윤고딕"/>
                <a:sym typeface="윤고딕"/>
              </a:rPr>
              <a:t>그래픽 디자인 프로젝트</a:t>
            </a:r>
          </a:p>
        </p:txBody>
      </p:sp>
      <p:sp>
        <p:nvSpPr>
          <p:cNvPr id="11" name="TextBox 11"/>
          <p:cNvSpPr txBox="1"/>
          <p:nvPr/>
        </p:nvSpPr>
        <p:spPr>
          <a:xfrm>
            <a:off x="1028700" y="2146698"/>
            <a:ext cx="2750145" cy="332740"/>
          </a:xfrm>
          <a:prstGeom prst="rect">
            <a:avLst/>
          </a:prstGeom>
        </p:spPr>
        <p:txBody>
          <a:bodyPr lIns="0" tIns="0" rIns="0" bIns="0" rtlCol="0" anchor="t">
            <a:spAutoFit/>
          </a:bodyPr>
          <a:lstStyle/>
          <a:p>
            <a:pPr algn="l">
              <a:lnSpc>
                <a:spcPts val="2659"/>
              </a:lnSpc>
            </a:pPr>
            <a:r>
              <a:rPr lang="en-US" sz="1899">
                <a:solidFill>
                  <a:srgbClr val="FFFFFF"/>
                </a:solidFill>
                <a:latin typeface="윤고딕"/>
                <a:ea typeface="윤고딕"/>
                <a:cs typeface="윤고딕"/>
                <a:sym typeface="윤고딕"/>
              </a:rPr>
              <a:t>2050. 01. 02</a:t>
            </a:r>
          </a:p>
        </p:txBody>
      </p:sp>
      <p:sp>
        <p:nvSpPr>
          <p:cNvPr id="12" name="TextBox 12"/>
          <p:cNvSpPr txBox="1"/>
          <p:nvPr/>
        </p:nvSpPr>
        <p:spPr>
          <a:xfrm>
            <a:off x="6911462" y="1391426"/>
            <a:ext cx="10347832" cy="981266"/>
          </a:xfrm>
          <a:prstGeom prst="rect">
            <a:avLst/>
          </a:prstGeom>
        </p:spPr>
        <p:txBody>
          <a:bodyPr lIns="0" tIns="0" rIns="0" bIns="0" rtlCol="0" anchor="t">
            <a:spAutoFit/>
          </a:bodyPr>
          <a:lstStyle/>
          <a:p>
            <a:pPr algn="just">
              <a:lnSpc>
                <a:spcPts val="2600"/>
              </a:lnSpc>
            </a:pPr>
            <a:r>
              <a:rPr lang="en-US" sz="1699">
                <a:solidFill>
                  <a:srgbClr val="FFFFFF"/>
                </a:solidFill>
                <a:latin typeface="윤고딕 Thin"/>
                <a:ea typeface="윤고딕 Thin"/>
                <a:cs typeface="윤고딕 Thin"/>
                <a:sym typeface="윤고딕 Thin"/>
              </a:rPr>
              <a:t>이 포스터 디자인은 유기적인 형태의 건축물 비주얼을 중심으로 기획되었습니다. 부드럽고 자연스러운 곡선을 활용하여 시각적인 흥미를 더하고, 흑백의 모던한 색조로 고급스러움을 강조했습니다. 창의적인 그래픽으로 건축물의 독특한 매력을 효과적으로 전달했습니다. 관람자의 시선을 사로잡고 감각적인 경험을 제공하는 디자인을 목표로 하였습니다.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extBox 2"/>
          <p:cNvSpPr txBox="1"/>
          <p:nvPr/>
        </p:nvSpPr>
        <p:spPr>
          <a:xfrm>
            <a:off x="923925" y="6018297"/>
            <a:ext cx="12680226" cy="2605805"/>
          </a:xfrm>
          <a:prstGeom prst="rect">
            <a:avLst/>
          </a:prstGeom>
        </p:spPr>
        <p:txBody>
          <a:bodyPr lIns="0" tIns="0" rIns="0" bIns="0" rtlCol="0" anchor="t">
            <a:spAutoFit/>
          </a:bodyPr>
          <a:lstStyle/>
          <a:p>
            <a:pPr algn="l">
              <a:lnSpc>
                <a:spcPts val="21368"/>
              </a:lnSpc>
            </a:pPr>
            <a:r>
              <a:rPr lang="en-US" sz="15263" b="1">
                <a:solidFill>
                  <a:srgbClr val="FFFFFF"/>
                </a:solidFill>
                <a:latin typeface="Alexandria Bold"/>
                <a:ea typeface="Alexandria Bold"/>
                <a:cs typeface="Alexandria Bold"/>
                <a:sym typeface="Alexandria Bold"/>
              </a:rPr>
              <a:t>THANK YOU.</a:t>
            </a:r>
          </a:p>
        </p:txBody>
      </p:sp>
      <p:sp>
        <p:nvSpPr>
          <p:cNvPr id="3" name="TextBox 3"/>
          <p:cNvSpPr txBox="1"/>
          <p:nvPr/>
        </p:nvSpPr>
        <p:spPr>
          <a:xfrm>
            <a:off x="1028700" y="8897620"/>
            <a:ext cx="11923841" cy="374650"/>
          </a:xfrm>
          <a:prstGeom prst="rect">
            <a:avLst/>
          </a:prstGeom>
        </p:spPr>
        <p:txBody>
          <a:bodyPr lIns="0" tIns="0" rIns="0" bIns="0" rtlCol="0" anchor="t">
            <a:spAutoFit/>
          </a:bodyPr>
          <a:lstStyle/>
          <a:p>
            <a:pPr marL="0" lvl="0" indent="0" algn="l">
              <a:lnSpc>
                <a:spcPts val="3199"/>
              </a:lnSpc>
              <a:spcBef>
                <a:spcPct val="0"/>
              </a:spcBef>
            </a:pPr>
            <a:r>
              <a:rPr lang="en-US" sz="1999">
                <a:solidFill>
                  <a:srgbClr val="B4B4B4"/>
                </a:solidFill>
                <a:latin typeface="윤고딕 Light"/>
                <a:ea typeface="윤고딕 Light"/>
                <a:cs typeface="윤고딕 Light"/>
                <a:sym typeface="윤고딕 Light"/>
              </a:rPr>
              <a:t>전혜연     PHONE: 123-456-7890     MAIL: hello@reallygreatsite.com     WEB: reallygreatsite.com</a:t>
            </a:r>
          </a:p>
        </p:txBody>
      </p:sp>
      <p:sp>
        <p:nvSpPr>
          <p:cNvPr id="4" name="TextBox 4"/>
          <p:cNvSpPr txBox="1"/>
          <p:nvPr/>
        </p:nvSpPr>
        <p:spPr>
          <a:xfrm>
            <a:off x="15370441" y="679450"/>
            <a:ext cx="1888859" cy="349250"/>
          </a:xfrm>
          <a:prstGeom prst="rect">
            <a:avLst/>
          </a:prstGeom>
        </p:spPr>
        <p:txBody>
          <a:bodyPr lIns="0" tIns="0" rIns="0" bIns="0" rtlCol="0" anchor="t">
            <a:spAutoFit/>
          </a:bodyPr>
          <a:lstStyle/>
          <a:p>
            <a:pPr algn="r">
              <a:lnSpc>
                <a:spcPts val="2800"/>
              </a:lnSpc>
            </a:pPr>
            <a:r>
              <a:rPr lang="en-US" sz="2000" i="1">
                <a:solidFill>
                  <a:srgbClr val="B4B4B4"/>
                </a:solidFill>
                <a:latin typeface="윤고딕"/>
                <a:ea typeface="윤고딕"/>
                <a:cs typeface="윤고딕"/>
                <a:sym typeface="윤고딕"/>
              </a:rPr>
              <a:t>2020 - 2050</a:t>
            </a:r>
          </a:p>
        </p:txBody>
      </p:sp>
      <p:sp>
        <p:nvSpPr>
          <p:cNvPr id="5" name="TextBox 5"/>
          <p:cNvSpPr txBox="1"/>
          <p:nvPr/>
        </p:nvSpPr>
        <p:spPr>
          <a:xfrm>
            <a:off x="1028700" y="679450"/>
            <a:ext cx="3200441" cy="349250"/>
          </a:xfrm>
          <a:prstGeom prst="rect">
            <a:avLst/>
          </a:prstGeom>
        </p:spPr>
        <p:txBody>
          <a:bodyPr lIns="0" tIns="0" rIns="0" bIns="0" rtlCol="0" anchor="t">
            <a:spAutoFit/>
          </a:bodyPr>
          <a:lstStyle/>
          <a:p>
            <a:pPr marL="0" lvl="0" indent="0" algn="l">
              <a:lnSpc>
                <a:spcPts val="2800"/>
              </a:lnSpc>
              <a:spcBef>
                <a:spcPct val="0"/>
              </a:spcBef>
            </a:pPr>
            <a:r>
              <a:rPr lang="en-US" sz="2000" i="1">
                <a:solidFill>
                  <a:srgbClr val="B4B4B4"/>
                </a:solidFill>
                <a:latin typeface="윤고딕"/>
                <a:ea typeface="윤고딕"/>
                <a:cs typeface="윤고딕"/>
                <a:sym typeface="윤고딕"/>
              </a:rPr>
              <a:t>Jeon</a:t>
            </a:r>
            <a:r>
              <a:rPr lang="en-US" sz="2000" i="1" u="none" strike="noStrike">
                <a:solidFill>
                  <a:srgbClr val="B4B4B4"/>
                </a:solidFill>
                <a:latin typeface="윤고딕"/>
                <a:ea typeface="윤고딕"/>
                <a:cs typeface="윤고딕"/>
                <a:sym typeface="윤고딕"/>
              </a:rPr>
              <a:t> Hye-yeon Portfolio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223</Words>
  <Application>Microsoft Office PowerPoint</Application>
  <PresentationFormat>사용자 지정</PresentationFormat>
  <Paragraphs>24</Paragraphs>
  <Slides>6</Slides>
  <Notes>0</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6</vt:i4>
      </vt:variant>
    </vt:vector>
  </HeadingPairs>
  <TitlesOfParts>
    <vt:vector size="16" baseType="lpstr">
      <vt:lpstr>Alexandria Bold</vt:lpstr>
      <vt:lpstr>Alexandria Light</vt:lpstr>
      <vt:lpstr>윤고딕 Light</vt:lpstr>
      <vt:lpstr>Alexandria Medium</vt:lpstr>
      <vt:lpstr>윤고딕</vt:lpstr>
      <vt:lpstr>Alexandria Semi-Bold</vt:lpstr>
      <vt:lpstr>Calibri</vt:lpstr>
      <vt:lpstr>윤고딕 Thin</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검정색 흰색 심플한 포트폴리오 프레젠테이션</dc:title>
  <dc:creator>User</dc:creator>
  <cp:lastModifiedBy>hanabira2356@gmail.com</cp:lastModifiedBy>
  <cp:revision>2</cp:revision>
  <dcterms:created xsi:type="dcterms:W3CDTF">2006-08-16T00:00:00Z</dcterms:created>
  <dcterms:modified xsi:type="dcterms:W3CDTF">2026-09-15T17:14:56Z</dcterms:modified>
  <dc:identifier>DAHVSDJwlsI</dc:identifier>
</cp:coreProperties>
</file>
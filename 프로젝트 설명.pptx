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66" r:id="rId4"/>
    <p:sldId id="273" r:id="rId5"/>
    <p:sldId id="262" r:id="rId6"/>
    <p:sldId id="267" r:id="rId7"/>
    <p:sldId id="268" r:id="rId8"/>
    <p:sldId id="270" r:id="rId9"/>
    <p:sldId id="271" r:id="rId10"/>
    <p:sldId id="272" r:id="rId11"/>
    <p:sldId id="265" r:id="rId12"/>
  </p:sldIdLst>
  <p:sldSz cx="18288000" cy="10287000"/>
  <p:notesSz cx="6858000" cy="9144000"/>
  <p:embeddedFontLst>
    <p:embeddedFont>
      <p:font typeface="윤고딕" panose="020B0600000101010101" charset="-127"/>
      <p:regular r:id="rId13"/>
    </p:embeddedFont>
    <p:embeddedFont>
      <p:font typeface="윤고딕 Light" panose="020B0600000101010101" charset="-127"/>
      <p:regular r:id="rId14"/>
    </p:embeddedFont>
    <p:embeddedFont>
      <p:font typeface="윤고딕 Thin" panose="020B0600000101010101" charset="-127"/>
      <p:regular r:id="rId15"/>
    </p:embeddedFont>
    <p:embeddedFont>
      <p:font typeface="Alexandria Bold" panose="020B0600000101010101" charset="-78"/>
      <p:regular r:id="rId16"/>
    </p:embeddedFont>
    <p:embeddedFont>
      <p:font typeface="Alexandria Light" panose="020B0600000101010101" charset="-78"/>
      <p:regular r:id="rId17"/>
    </p:embeddedFont>
    <p:embeddedFont>
      <p:font typeface="Alexandria Semi-Bold" panose="020B0600000101010101" charset="-78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90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3925" y="6018297"/>
            <a:ext cx="12680226" cy="260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68"/>
              </a:lnSpc>
            </a:pPr>
            <a:r>
              <a:rPr lang="en-US" sz="15263" b="1" dirty="0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PORTFOLIO.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897620"/>
            <a:ext cx="11923841" cy="37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9"/>
              </a:lnSpc>
              <a:spcBef>
                <a:spcPct val="0"/>
              </a:spcBef>
            </a:pPr>
            <a:r>
              <a:rPr lang="ko-KR" altLang="en-US" sz="1999" dirty="0">
                <a:solidFill>
                  <a:srgbClr val="B4B4B4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정태민</a:t>
            </a:r>
            <a:r>
              <a:rPr lang="en-US" sz="1999" dirty="0">
                <a:solidFill>
                  <a:srgbClr val="B4B4B4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     PHONE: 010-4114-2196     MAIL: hanabira2356@gamil.com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71526"/>
            <a:ext cx="43649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id="4" name="AutoShape 4"/>
          <p:cNvSpPr/>
          <p:nvPr/>
        </p:nvSpPr>
        <p:spPr>
          <a:xfrm>
            <a:off x="1063336" y="4393627"/>
            <a:ext cx="8691248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28700" y="1287663"/>
            <a:ext cx="7962900" cy="1567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153"/>
              </a:lnSpc>
            </a:pPr>
            <a:r>
              <a:rPr lang="en-US" sz="9395" b="1" dirty="0">
                <a:solidFill>
                  <a:srgbClr val="FFFFFF"/>
                </a:solidFill>
                <a:latin typeface="Alexandria Semi-Bold"/>
                <a:ea typeface="Alexandria Semi-Bold"/>
                <a:cs typeface="Alexandria Semi-Bold"/>
                <a:sym typeface="Alexandria Semi-Bold"/>
              </a:rPr>
              <a:t>SKILL &amp; Tool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3822B47-1A59-F125-D1F9-455D31884C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36" y="4586622"/>
            <a:ext cx="848591" cy="95397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97B8ECB-FB91-5E11-CBF8-9B6D061816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34" y="5372100"/>
            <a:ext cx="1650593" cy="16505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58428CF-3EA0-9268-8662-8C6A8769E1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99" y="6781518"/>
            <a:ext cx="2168261" cy="121964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8E01648-A553-72D8-73A4-BC473C342D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95" y="8001165"/>
            <a:ext cx="912332" cy="90671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3994544-F74C-8612-9BD5-8EA6866E4B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15" y="9083740"/>
            <a:ext cx="912332" cy="91233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560465D-940B-B256-4C83-FE17F35C9A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552" y="4586622"/>
            <a:ext cx="920426" cy="109821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EFD5502-FF81-2E99-7156-BF542537362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900" y="5795440"/>
            <a:ext cx="986078" cy="9860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2EB64D-1834-FE89-B5CF-3902F29698EC}"/>
              </a:ext>
            </a:extLst>
          </p:cNvPr>
          <p:cNvSpPr txBox="1"/>
          <p:nvPr/>
        </p:nvSpPr>
        <p:spPr>
          <a:xfrm>
            <a:off x="2190886" y="4871992"/>
            <a:ext cx="76174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C++</a:t>
            </a:r>
            <a:endParaRPr lang="ko-KR" altLang="en-US" sz="25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0AD20-352E-EE37-46ED-65E57DCDD1C5}"/>
              </a:ext>
            </a:extLst>
          </p:cNvPr>
          <p:cNvSpPr txBox="1"/>
          <p:nvPr/>
        </p:nvSpPr>
        <p:spPr>
          <a:xfrm>
            <a:off x="2208793" y="5922529"/>
            <a:ext cx="59022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C#</a:t>
            </a:r>
            <a:endParaRPr lang="ko-KR" altLang="en-US" sz="25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0B645-74E2-3023-906C-6CDF32A51041}"/>
              </a:ext>
            </a:extLst>
          </p:cNvPr>
          <p:cNvSpPr txBox="1"/>
          <p:nvPr/>
        </p:nvSpPr>
        <p:spPr>
          <a:xfrm>
            <a:off x="2227157" y="7152814"/>
            <a:ext cx="90601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Unity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B9252-946B-C835-97DB-BD48DD8ABC20}"/>
              </a:ext>
            </a:extLst>
          </p:cNvPr>
          <p:cNvSpPr txBox="1"/>
          <p:nvPr/>
        </p:nvSpPr>
        <p:spPr>
          <a:xfrm>
            <a:off x="2227157" y="8171832"/>
            <a:ext cx="15440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DirectX 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8AA51-15B9-4036-AD91-D30838804DE9}"/>
              </a:ext>
            </a:extLst>
          </p:cNvPr>
          <p:cNvSpPr txBox="1"/>
          <p:nvPr/>
        </p:nvSpPr>
        <p:spPr>
          <a:xfrm>
            <a:off x="2227157" y="9276947"/>
            <a:ext cx="116730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GitHub</a:t>
            </a:r>
            <a:endParaRPr lang="ko-KR" altLang="en-US" sz="25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A3291-955B-FA66-46C6-A402B9C8CC44}"/>
              </a:ext>
            </a:extLst>
          </p:cNvPr>
          <p:cNvSpPr txBox="1"/>
          <p:nvPr/>
        </p:nvSpPr>
        <p:spPr>
          <a:xfrm>
            <a:off x="5506561" y="4904973"/>
            <a:ext cx="172002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LucidChart</a:t>
            </a:r>
            <a:endParaRPr lang="ko-KR" altLang="en-US" sz="25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D1A024-4316-F5EA-6148-207FC5DFEE97}"/>
              </a:ext>
            </a:extLst>
          </p:cNvPr>
          <p:cNvSpPr txBox="1"/>
          <p:nvPr/>
        </p:nvSpPr>
        <p:spPr>
          <a:xfrm>
            <a:off x="5506561" y="5959266"/>
            <a:ext cx="12724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Git Fork</a:t>
            </a:r>
            <a:endParaRPr lang="ko-KR" altLang="en-US" sz="25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E8ACE-9730-6566-0E39-22E65B307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B432BFF-496F-92CB-DD63-213839F2721D}"/>
              </a:ext>
            </a:extLst>
          </p:cNvPr>
          <p:cNvSpPr txBox="1"/>
          <p:nvPr/>
        </p:nvSpPr>
        <p:spPr>
          <a:xfrm>
            <a:off x="1028700" y="771526"/>
            <a:ext cx="43649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9B88CBB-E024-1E4D-B3E3-32682E4B22B7}"/>
              </a:ext>
            </a:extLst>
          </p:cNvPr>
          <p:cNvSpPr txBox="1"/>
          <p:nvPr/>
        </p:nvSpPr>
        <p:spPr>
          <a:xfrm>
            <a:off x="1028700" y="1286970"/>
            <a:ext cx="5882762" cy="6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 dirty="0" err="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Skul</a:t>
            </a:r>
            <a:r>
              <a:rPr 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모작</a:t>
            </a:r>
            <a:endParaRPr lang="en-US" sz="3998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1D236C2-00C9-C963-82FE-BE1211020B80}"/>
              </a:ext>
            </a:extLst>
          </p:cNvPr>
          <p:cNvSpPr txBox="1"/>
          <p:nvPr/>
        </p:nvSpPr>
        <p:spPr>
          <a:xfrm>
            <a:off x="1028700" y="2146698"/>
            <a:ext cx="2750145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2050. 01. 02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993417F-A925-693A-041D-551D995C97A3}"/>
              </a:ext>
            </a:extLst>
          </p:cNvPr>
          <p:cNvSpPr txBox="1"/>
          <p:nvPr/>
        </p:nvSpPr>
        <p:spPr>
          <a:xfrm>
            <a:off x="6911462" y="1391426"/>
            <a:ext cx="10347832" cy="196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ko-KR" altLang="en-US" sz="3000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프로젝트 단위</a:t>
            </a:r>
            <a:r>
              <a:rPr lang="en-US" altLang="ko-KR" sz="3000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: </a:t>
            </a:r>
            <a:r>
              <a:rPr lang="ko-KR" altLang="en-US" sz="3000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개인 프로젝트</a:t>
            </a:r>
            <a:endParaRPr lang="en-US" altLang="ko-KR" sz="3000" dirty="0">
              <a:solidFill>
                <a:srgbClr val="FFFFFF"/>
              </a:solidFill>
              <a:latin typeface="윤고딕 Thin" panose="020B0600000101010101" charset="-127"/>
              <a:ea typeface="윤고딕 Thin" panose="020B0600000101010101" charset="-127"/>
              <a:cs typeface="윤고딕 Thin"/>
              <a:sym typeface="윤고딕 Thin"/>
            </a:endParaRPr>
          </a:p>
          <a:p>
            <a:pPr algn="just">
              <a:lnSpc>
                <a:spcPts val="2600"/>
              </a:lnSpc>
            </a:pPr>
            <a:endParaRPr lang="en-US" altLang="ko-KR" sz="3000" dirty="0">
              <a:solidFill>
                <a:srgbClr val="FFFFFF"/>
              </a:solidFill>
              <a:latin typeface="윤고딕 Thin" panose="020B0600000101010101" charset="-127"/>
              <a:ea typeface="윤고딕 Thin" panose="020B0600000101010101" charset="-127"/>
              <a:cs typeface="윤고딕 Thin"/>
              <a:sym typeface="윤고딕 Thin"/>
            </a:endParaRPr>
          </a:p>
          <a:p>
            <a:pPr algn="just">
              <a:lnSpc>
                <a:spcPts val="2600"/>
              </a:lnSpc>
            </a:pPr>
            <a:r>
              <a:rPr lang="ko-KR" altLang="en-US" sz="3000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사용된 엔진</a:t>
            </a:r>
            <a:r>
              <a:rPr lang="en-US" altLang="ko-KR" sz="3000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: Unity 6.3</a:t>
            </a:r>
          </a:p>
          <a:p>
            <a:pPr algn="just">
              <a:lnSpc>
                <a:spcPts val="2600"/>
              </a:lnSpc>
            </a:pPr>
            <a:endParaRPr lang="en-US" altLang="ko-KR" sz="3000" dirty="0">
              <a:solidFill>
                <a:srgbClr val="FFFFFF"/>
              </a:solidFill>
              <a:latin typeface="윤고딕 Thin" panose="020B0600000101010101" charset="-127"/>
              <a:ea typeface="윤고딕 Thin" panose="020B0600000101010101" charset="-127"/>
              <a:cs typeface="윤고딕 Thin"/>
              <a:sym typeface="윤고딕 Thin"/>
            </a:endParaRPr>
          </a:p>
          <a:p>
            <a:pPr algn="just">
              <a:lnSpc>
                <a:spcPts val="2600"/>
              </a:lnSpc>
            </a:pPr>
            <a:endParaRPr lang="en-US" altLang="ko-KR" sz="3000" dirty="0">
              <a:solidFill>
                <a:srgbClr val="FFFFFF"/>
              </a:solidFill>
              <a:latin typeface="윤고딕 Thin" panose="020B0600000101010101" charset="-127"/>
              <a:ea typeface="윤고딕 Thin" panose="020B0600000101010101" charset="-127"/>
              <a:cs typeface="윤고딕 Thin"/>
              <a:sym typeface="윤고딕 Thin"/>
            </a:endParaRPr>
          </a:p>
          <a:p>
            <a:pPr algn="just">
              <a:lnSpc>
                <a:spcPts val="2600"/>
              </a:lnSpc>
            </a:pPr>
            <a:endParaRPr lang="en-US" sz="1699" dirty="0">
              <a:solidFill>
                <a:srgbClr val="FFFFFF"/>
              </a:solidFill>
              <a:latin typeface="윤고딕 Thin" panose="020B0600000101010101" charset="-127"/>
              <a:ea typeface="윤고딕 Thin" panose="020B0600000101010101" charset="-127"/>
              <a:cs typeface="윤고딕 Thin"/>
              <a:sym typeface="윤고딕 Thin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F8C1428-8160-4D20-5CAF-BBC5334D4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660967"/>
            <a:ext cx="12867044" cy="722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5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9398E-2E93-1486-51FD-02B9E66B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35F5ADC-0001-143A-E5EC-A6150DD4F111}"/>
              </a:ext>
            </a:extLst>
          </p:cNvPr>
          <p:cNvSpPr txBox="1"/>
          <p:nvPr/>
        </p:nvSpPr>
        <p:spPr>
          <a:xfrm>
            <a:off x="1028700" y="771526"/>
            <a:ext cx="43649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26511D77-9755-16CA-1194-C881608A3C05}"/>
              </a:ext>
            </a:extLst>
          </p:cNvPr>
          <p:cNvSpPr txBox="1"/>
          <p:nvPr/>
        </p:nvSpPr>
        <p:spPr>
          <a:xfrm>
            <a:off x="1181100" y="1440063"/>
            <a:ext cx="7962900" cy="1567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153"/>
              </a:lnSpc>
            </a:pPr>
            <a:r>
              <a:rPr lang="ko-KR" altLang="en-US" sz="9395" b="1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Alexandria Semi-Bold"/>
                <a:sym typeface="Alexandria Semi-Bold"/>
              </a:rPr>
              <a:t>목차</a:t>
            </a:r>
            <a:endParaRPr lang="en-US" sz="9395" b="1" dirty="0">
              <a:solidFill>
                <a:srgbClr val="FFFFFF"/>
              </a:solidFill>
              <a:latin typeface="윤고딕" panose="020B0600000101010101" charset="-127"/>
              <a:ea typeface="윤고딕" panose="020B0600000101010101" charset="-127"/>
              <a:cs typeface="Alexandria Semi-Bold"/>
              <a:sym typeface="Alexandria Semi-Bold"/>
            </a:endParaRP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0EB60DC9-BE6F-F163-622D-3B5ACFC5FC9F}"/>
              </a:ext>
            </a:extLst>
          </p:cNvPr>
          <p:cNvSpPr/>
          <p:nvPr/>
        </p:nvSpPr>
        <p:spPr>
          <a:xfrm>
            <a:off x="1028700" y="3390900"/>
            <a:ext cx="8691248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FC78F5-38D1-514E-7D26-4AE8D8CD655E}"/>
              </a:ext>
            </a:extLst>
          </p:cNvPr>
          <p:cNvSpPr txBox="1"/>
          <p:nvPr/>
        </p:nvSpPr>
        <p:spPr>
          <a:xfrm>
            <a:off x="1371600" y="3774514"/>
            <a:ext cx="2686698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000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Zenject</a:t>
            </a: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MVP </a:t>
            </a:r>
            <a:r>
              <a:rPr lang="ko-KR" altLang="en-US" sz="30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패턴</a:t>
            </a: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Data </a:t>
            </a:r>
            <a:r>
              <a:rPr lang="ko-KR" altLang="en-US" sz="30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관리</a:t>
            </a: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000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Addressables</a:t>
            </a: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000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ObjectPool</a:t>
            </a: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FSM</a:t>
            </a:r>
            <a:r>
              <a:rPr lang="ko-KR" altLang="en-US" sz="3000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머신</a:t>
            </a:r>
          </a:p>
        </p:txBody>
      </p:sp>
    </p:spTree>
    <p:extLst>
      <p:ext uri="{BB962C8B-B14F-4D97-AF65-F5344CB8AC3E}">
        <p14:creationId xmlns:p14="http://schemas.microsoft.com/office/powerpoint/2010/main" val="127442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771526"/>
            <a:ext cx="43649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981777"/>
            <a:ext cx="5882762" cy="7696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싱글톤의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한계 극복이다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 </a:t>
            </a:r>
            <a:r>
              <a:rPr lang="ko-KR" altLang="en-US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싱글톤은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Static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으로 선언하여 </a:t>
            </a:r>
            <a:r>
              <a:rPr lang="ko-KR" altLang="en-US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어디에서든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접근이 가능하여 오염될 가능성이 있고 코드 또한 스파게티 코드가 될 우려가 있기 때문이다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Find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계열 함수에 대한 비용 문제이다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FindAnyObject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함수가 추가되면서 기존보다는 비용 문제가 개선되었다고 할지라도 작동 원리는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Scene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에 배치되어 있는 모든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Object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를 검사하는 것이기 때문에 시간 복잡도는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O(N)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이 나오지만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Zenject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를 활용해 의존성을 주입하면 탐색에 대한 비용이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0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에 가깝기 때문이다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초기화 순서를 보장하기 위해서 이다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 Unity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에서는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Awake/Start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호출 순서 문제로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NullReferenceException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을 방지하기 위함이다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Zenject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에는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Initialize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함수를 별도로 제공하는데 이 함수는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Unity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의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Awake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보다 먼저 호출되어 초기화에 대한 순서를 보장할 수 있다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algn="l">
              <a:lnSpc>
                <a:spcPts val="5837"/>
              </a:lnSpc>
            </a:pPr>
            <a:endParaRPr lang="en-US" altLang="ko-KR" sz="2500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216454"/>
            <a:ext cx="10347832" cy="3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3000" dirty="0" err="1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Zenject</a:t>
            </a:r>
            <a:r>
              <a:rPr lang="ko-KR" altLang="en-US" sz="30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를 이용한 의존성 주입</a:t>
            </a:r>
            <a:endParaRPr lang="en-US" sz="300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5A5BF5-5E1F-A7BA-6A2C-C547436F8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2818091"/>
            <a:ext cx="8938628" cy="6153403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6257CB1E-C224-2C19-C97B-080878A53041}"/>
              </a:ext>
            </a:extLst>
          </p:cNvPr>
          <p:cNvSpPr txBox="1"/>
          <p:nvPr/>
        </p:nvSpPr>
        <p:spPr>
          <a:xfrm>
            <a:off x="1181100" y="1439370"/>
            <a:ext cx="5882762" cy="6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 dirty="0" err="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Skul</a:t>
            </a:r>
            <a:r>
              <a:rPr 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모작</a:t>
            </a:r>
            <a:endParaRPr lang="en-US" sz="3998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AA7A7-1C17-9D05-AC25-8CD924B6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9CB75E0-7022-BCDD-CB9D-5CDE1350D3E2}"/>
              </a:ext>
            </a:extLst>
          </p:cNvPr>
          <p:cNvSpPr txBox="1"/>
          <p:nvPr/>
        </p:nvSpPr>
        <p:spPr>
          <a:xfrm>
            <a:off x="1028700" y="771526"/>
            <a:ext cx="43649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52C16F8-B75E-214B-DD2F-B216AC668F49}"/>
              </a:ext>
            </a:extLst>
          </p:cNvPr>
          <p:cNvSpPr txBox="1"/>
          <p:nvPr/>
        </p:nvSpPr>
        <p:spPr>
          <a:xfrm>
            <a:off x="1028700" y="1286970"/>
            <a:ext cx="5882762" cy="6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 dirty="0" err="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Skul</a:t>
            </a:r>
            <a:r>
              <a:rPr 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모작</a:t>
            </a:r>
            <a:endParaRPr lang="en-US" sz="3998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B0DD3B8-F0D7-94BC-47B6-DD19B590A5E5}"/>
              </a:ext>
            </a:extLst>
          </p:cNvPr>
          <p:cNvSpPr txBox="1"/>
          <p:nvPr/>
        </p:nvSpPr>
        <p:spPr>
          <a:xfrm>
            <a:off x="1042555" y="2310713"/>
            <a:ext cx="10347832" cy="3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30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MVP</a:t>
            </a:r>
            <a:r>
              <a:rPr lang="ko-KR" altLang="en-US" sz="30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 패턴을 활용한 관심사 분리</a:t>
            </a:r>
            <a:endParaRPr lang="en-US" sz="300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5D8D404-7B85-FDAD-69E6-562DFDAFB0F6}"/>
              </a:ext>
            </a:extLst>
          </p:cNvPr>
          <p:cNvSpPr txBox="1"/>
          <p:nvPr/>
        </p:nvSpPr>
        <p:spPr>
          <a:xfrm>
            <a:off x="2252375" y="9225377"/>
            <a:ext cx="1143000" cy="333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5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Model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AC05EE9-1E95-62FB-5A92-C90B8E559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294" y="3770409"/>
            <a:ext cx="5716234" cy="5233812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00F9E9FD-6870-75D8-D3BA-57DC91881E46}"/>
              </a:ext>
            </a:extLst>
          </p:cNvPr>
          <p:cNvSpPr txBox="1"/>
          <p:nvPr/>
        </p:nvSpPr>
        <p:spPr>
          <a:xfrm>
            <a:off x="7979361" y="9325520"/>
            <a:ext cx="1562100" cy="333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5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Presenter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3DE627A-EA62-8B7C-341B-42B0EDF57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0760" y="3770409"/>
            <a:ext cx="5258534" cy="5125165"/>
          </a:xfrm>
          <a:prstGeom prst="rect">
            <a:avLst/>
          </a:prstGeom>
        </p:spPr>
      </p:pic>
      <p:sp>
        <p:nvSpPr>
          <p:cNvPr id="23" name="TextBox 8">
            <a:extLst>
              <a:ext uri="{FF2B5EF4-FFF2-40B4-BE49-F238E27FC236}">
                <a16:creationId xmlns:a16="http://schemas.microsoft.com/office/drawing/2014/main" id="{DF0961A2-4996-2666-8A27-A2348FE796C5}"/>
              </a:ext>
            </a:extLst>
          </p:cNvPr>
          <p:cNvSpPr txBox="1"/>
          <p:nvPr/>
        </p:nvSpPr>
        <p:spPr>
          <a:xfrm>
            <a:off x="14160083" y="9225377"/>
            <a:ext cx="1562100" cy="333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5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View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8E7DFC-6097-F40C-569F-5225C7ABB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57" y="3787727"/>
            <a:ext cx="4488235" cy="53604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C14E30-1A85-1BD5-4D9A-5FBB8897E096}"/>
              </a:ext>
            </a:extLst>
          </p:cNvPr>
          <p:cNvSpPr txBox="1"/>
          <p:nvPr/>
        </p:nvSpPr>
        <p:spPr>
          <a:xfrm>
            <a:off x="7620216" y="627863"/>
            <a:ext cx="5882762" cy="3520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mvp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패턴을 적용하여 데이터를 받아오는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view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와 오브젝트에게 필요한 데이터는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model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로 관리함으로 써 관심사를 분리해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model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의 데이터 오염을 막는다</a:t>
            </a: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presenter/controller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라는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view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와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model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을 중개 하는 객체를 두어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view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와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model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이 서로 간섭하는 것을 방지한다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>
              <a:solidFill>
                <a:schemeClr val="bg1"/>
              </a:solidFill>
            </a:endParaRPr>
          </a:p>
          <a:p>
            <a:pPr marL="285750" indent="-285750" algn="l">
              <a:lnSpc>
                <a:spcPts val="5837"/>
              </a:lnSpc>
              <a:buFont typeface="Arial" panose="020B0604020202020204" pitchFamily="34" charset="0"/>
              <a:buChar char="•"/>
            </a:pPr>
            <a:endParaRPr lang="en-US" altLang="ko-KR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150616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BBCD5-18BF-2721-AACB-EC8204E1E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FC03CCE5-2C05-7020-E0D1-9B8F23116F2A}"/>
              </a:ext>
            </a:extLst>
          </p:cNvPr>
          <p:cNvSpPr txBox="1"/>
          <p:nvPr/>
        </p:nvSpPr>
        <p:spPr>
          <a:xfrm>
            <a:off x="1028700" y="771526"/>
            <a:ext cx="43649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2E3548-05D6-D4D2-DD4F-EF02E4C94A7F}"/>
              </a:ext>
            </a:extLst>
          </p:cNvPr>
          <p:cNvSpPr txBox="1"/>
          <p:nvPr/>
        </p:nvSpPr>
        <p:spPr>
          <a:xfrm>
            <a:off x="1028700" y="1286970"/>
            <a:ext cx="5882762" cy="6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 dirty="0" err="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Skul</a:t>
            </a:r>
            <a:r>
              <a:rPr 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모작</a:t>
            </a:r>
            <a:endParaRPr lang="en-US" sz="3998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7C45855-3242-1622-D2E2-C2EE70B2551D}"/>
              </a:ext>
            </a:extLst>
          </p:cNvPr>
          <p:cNvSpPr txBox="1"/>
          <p:nvPr/>
        </p:nvSpPr>
        <p:spPr>
          <a:xfrm>
            <a:off x="1028700" y="2319112"/>
            <a:ext cx="10347832" cy="3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ko-KR" altLang="en-US" sz="30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캐릭터 </a:t>
            </a:r>
            <a:r>
              <a:rPr lang="ko-KR" altLang="en-US" sz="3000" dirty="0" err="1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스텟</a:t>
            </a:r>
            <a:r>
              <a:rPr lang="ko-KR" altLang="en-US" sz="30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 데이터 관리</a:t>
            </a:r>
            <a:endParaRPr lang="en-US" altLang="ko-KR" sz="300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A3C0632-712B-9320-4755-3AAF40056B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302" y="1712146"/>
            <a:ext cx="1218858" cy="1218858"/>
          </a:xfrm>
          <a:prstGeom prst="rect">
            <a:avLst/>
          </a:prstGeom>
        </p:spPr>
      </p:pic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C8D68898-C4C5-2EB8-F4DC-792CB1B1A5B0}"/>
              </a:ext>
            </a:extLst>
          </p:cNvPr>
          <p:cNvSpPr/>
          <p:nvPr/>
        </p:nvSpPr>
        <p:spPr>
          <a:xfrm rot="16200000">
            <a:off x="6863196" y="1655174"/>
            <a:ext cx="838200" cy="1458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2D32E8D-92B5-F2B9-0184-9B4D197707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432" y="1794584"/>
            <a:ext cx="1179370" cy="117937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1AC9962D-D625-4C3F-9E61-E4D7389C1932}"/>
              </a:ext>
            </a:extLst>
          </p:cNvPr>
          <p:cNvSpPr txBox="1"/>
          <p:nvPr/>
        </p:nvSpPr>
        <p:spPr>
          <a:xfrm>
            <a:off x="5097719" y="3060123"/>
            <a:ext cx="1143000" cy="333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5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CSV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7418F8D7-C2B1-712D-AE03-E3D7D00D4A97}"/>
              </a:ext>
            </a:extLst>
          </p:cNvPr>
          <p:cNvSpPr txBox="1"/>
          <p:nvPr/>
        </p:nvSpPr>
        <p:spPr>
          <a:xfrm>
            <a:off x="8291922" y="3070514"/>
            <a:ext cx="1143000" cy="333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5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JSON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6F4E617-2B5F-14EA-4B89-AB504098D0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481" y="774990"/>
            <a:ext cx="6649315" cy="550336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AE8B57A-FDEA-FE68-50D4-838727DCB1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408" y="6632302"/>
            <a:ext cx="6792191" cy="3270829"/>
          </a:xfrm>
          <a:prstGeom prst="rect">
            <a:avLst/>
          </a:prstGeom>
        </p:spPr>
      </p:pic>
      <p:sp>
        <p:nvSpPr>
          <p:cNvPr id="28" name="TextBox 6">
            <a:extLst>
              <a:ext uri="{FF2B5EF4-FFF2-40B4-BE49-F238E27FC236}">
                <a16:creationId xmlns:a16="http://schemas.microsoft.com/office/drawing/2014/main" id="{EBED1FBE-D9AA-1FFB-DC3F-332723AD3CE2}"/>
              </a:ext>
            </a:extLst>
          </p:cNvPr>
          <p:cNvSpPr txBox="1"/>
          <p:nvPr/>
        </p:nvSpPr>
        <p:spPr>
          <a:xfrm>
            <a:off x="1007918" y="3669293"/>
            <a:ext cx="9660082" cy="1612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79" dirty="0" err="1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스탯</a:t>
            </a:r>
            <a:r>
              <a:rPr lang="ko-KR" altLang="en-US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 데이터를 </a:t>
            </a:r>
            <a:r>
              <a:rPr lang="en-US" altLang="ko-KR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CSV</a:t>
            </a:r>
            <a:r>
              <a:rPr lang="ko-KR" altLang="en-US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로 관리하고 있지만 보스만 들고 있는 데이터는 별도의 </a:t>
            </a:r>
            <a:r>
              <a:rPr lang="en-US" altLang="ko-KR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CSV</a:t>
            </a:r>
            <a:r>
              <a:rPr lang="ko-KR" altLang="en-US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로 관리를 </a:t>
            </a:r>
            <a:r>
              <a:rPr lang="ko-KR" altLang="en-US" spc="79" dirty="0" err="1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해야하는</a:t>
            </a:r>
            <a:r>
              <a:rPr lang="ko-KR" altLang="en-US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 일이 발생하는데 </a:t>
            </a:r>
            <a:r>
              <a:rPr lang="en-US" altLang="ko-KR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CSV</a:t>
            </a:r>
            <a:r>
              <a:rPr lang="ko-KR" altLang="en-US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를 </a:t>
            </a:r>
            <a:r>
              <a:rPr lang="en-US" altLang="ko-KR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JSON</a:t>
            </a:r>
            <a:r>
              <a:rPr lang="ko-KR" altLang="en-US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으로 변환하여 관리하면 보스만 가지고 있어야 하는 데이터와 공통으로 사용하는 데이터를 한 파일로 관리할 수 있으므로 데이터 로드 시에 파일을 여러 개 </a:t>
            </a:r>
            <a:r>
              <a:rPr lang="ko-KR" altLang="en-US" spc="79" dirty="0" err="1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로드하지</a:t>
            </a:r>
            <a:r>
              <a:rPr lang="ko-KR" altLang="en-US" spc="79" dirty="0">
                <a:solidFill>
                  <a:srgbClr val="FFFFFF"/>
                </a:solidFill>
                <a:latin typeface="윤고딕 Thin" panose="020B0600000101010101" charset="-127"/>
                <a:ea typeface="윤고딕 Thin" panose="020B0600000101010101" charset="-127"/>
                <a:cs typeface="윤고딕"/>
                <a:sym typeface="윤고딕"/>
              </a:rPr>
              <a:t> 않아도 된다</a:t>
            </a:r>
            <a:endParaRPr lang="en-US" altLang="ko-KR" spc="79" dirty="0">
              <a:solidFill>
                <a:srgbClr val="FFFFFF"/>
              </a:solidFill>
              <a:latin typeface="윤고딕 Thin" panose="020B0600000101010101" charset="-127"/>
              <a:ea typeface="윤고딕 Thin" panose="020B0600000101010101" charset="-127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4241550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E1C47-099D-B8CF-6E23-02DEEC8D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6A9E87A7-D5F1-6E42-5472-ECCAB00F01FE}"/>
              </a:ext>
            </a:extLst>
          </p:cNvPr>
          <p:cNvSpPr txBox="1"/>
          <p:nvPr/>
        </p:nvSpPr>
        <p:spPr>
          <a:xfrm>
            <a:off x="1028700" y="771526"/>
            <a:ext cx="43649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4489B53-5BAE-7077-E033-5C711DA4698B}"/>
              </a:ext>
            </a:extLst>
          </p:cNvPr>
          <p:cNvSpPr txBox="1"/>
          <p:nvPr/>
        </p:nvSpPr>
        <p:spPr>
          <a:xfrm>
            <a:off x="1028700" y="1286970"/>
            <a:ext cx="5882762" cy="6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 dirty="0" err="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Skul</a:t>
            </a:r>
            <a:r>
              <a:rPr 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모작</a:t>
            </a:r>
            <a:endParaRPr lang="en-US" sz="3998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E0CCAE4-D88E-2CCC-693F-9440F62C8DA6}"/>
              </a:ext>
            </a:extLst>
          </p:cNvPr>
          <p:cNvSpPr txBox="1"/>
          <p:nvPr/>
        </p:nvSpPr>
        <p:spPr>
          <a:xfrm>
            <a:off x="994064" y="2216454"/>
            <a:ext cx="10347832" cy="3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altLang="ko-KR" sz="3000" dirty="0" err="1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Addressables</a:t>
            </a:r>
            <a:endParaRPr lang="en-US" altLang="ko-KR" sz="300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71EE7D-0509-773F-613E-FD98ADBC9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2888946"/>
            <a:ext cx="8316686" cy="5181600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8E81A19F-3F61-AC5C-571D-56EF64EADDAB}"/>
              </a:ext>
            </a:extLst>
          </p:cNvPr>
          <p:cNvSpPr txBox="1"/>
          <p:nvPr/>
        </p:nvSpPr>
        <p:spPr>
          <a:xfrm>
            <a:off x="994064" y="2878555"/>
            <a:ext cx="7921337" cy="7850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기존의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AssetBundle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도 </a:t>
            </a:r>
            <a:r>
              <a:rPr lang="ko-KR" altLang="en-US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좋은것은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맞으나 관리에 있어서 큰 불편함이 있기 때문이다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AssetBundle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은 다른 두 대의 번들이 동일한 데이터를 참조할 때 종속성을 수동으로 처리하지 않으면 파일의 크기가 불필요하게 증가 하지만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Addressables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는 에디터가 자동으로 분석하여 </a:t>
            </a:r>
            <a:r>
              <a:rPr lang="ko-KR" altLang="en-US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에셋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간의 종속성을 관리해준다</a:t>
            </a: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pc="79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  <a:cs typeface="윤고딕"/>
              <a:sym typeface="윤고딕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에셋의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실제 물리적 위치나 번들 파일명이 변경되어도 주소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(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Addressables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Name / Key)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만 변경되지 않는다면 코드를 수정하지 않아도 되기 때문이다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메모리 해제를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AssetBundle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에 비해 간소화 시켰기 때문이다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Addressables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는 번들의 참조 </a:t>
            </a:r>
            <a:r>
              <a:rPr lang="ko-KR" altLang="en-US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카은팅을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시스템 내부에서 처리하므로 해제로직 없이도 안전하게 메모리를 관리할 수 있다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Addressables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를 사용하면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Prefab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을 포함한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csv,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json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파일 등등을 외부 서버에 올릴 수 있게 돼서 메모리 및 빌드 용량을 최적화 시킬 수 있다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그리고 외부 서버에 올려두면 업데이트를 하더라도 갱신된 정보를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Addressables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를 이용해 서버에 올려두면 변경된 부분에 대한 용량만 받으면 패치가 되기 때문에 유저들이 매 업데이트마다 대용량의 다운로드를 할 필요가 없어진다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pc="79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160603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47DFA-20CC-F90E-35DB-13B0A1F93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62196A-D3D0-035A-F8F7-0EDD641D879A}"/>
              </a:ext>
            </a:extLst>
          </p:cNvPr>
          <p:cNvSpPr txBox="1"/>
          <p:nvPr/>
        </p:nvSpPr>
        <p:spPr>
          <a:xfrm>
            <a:off x="1028700" y="771526"/>
            <a:ext cx="43649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82B0B69-E349-40AB-14C4-196D7C2D7BAA}"/>
              </a:ext>
            </a:extLst>
          </p:cNvPr>
          <p:cNvSpPr txBox="1"/>
          <p:nvPr/>
        </p:nvSpPr>
        <p:spPr>
          <a:xfrm>
            <a:off x="1028700" y="1286970"/>
            <a:ext cx="5882762" cy="6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 dirty="0" err="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Skul</a:t>
            </a:r>
            <a:r>
              <a:rPr 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모작</a:t>
            </a:r>
            <a:endParaRPr lang="en-US" sz="3998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F753C75-E114-8255-1896-36C8C805F40B}"/>
              </a:ext>
            </a:extLst>
          </p:cNvPr>
          <p:cNvSpPr txBox="1"/>
          <p:nvPr/>
        </p:nvSpPr>
        <p:spPr>
          <a:xfrm>
            <a:off x="1028700" y="2216454"/>
            <a:ext cx="10347832" cy="35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altLang="ko-KR" sz="3000" dirty="0" err="1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ObjectPool</a:t>
            </a:r>
            <a:endParaRPr lang="en-US" altLang="ko-KR" sz="300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2913CF-8DA0-6135-7CD4-8338B3C3D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638" y="2212990"/>
            <a:ext cx="8352500" cy="6066330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6646ECDE-7BD3-7AA1-0CC7-F5D628B5FC37}"/>
              </a:ext>
            </a:extLst>
          </p:cNvPr>
          <p:cNvSpPr txBox="1"/>
          <p:nvPr/>
        </p:nvSpPr>
        <p:spPr>
          <a:xfrm>
            <a:off x="1028699" y="2818091"/>
            <a:ext cx="8080665" cy="5182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ObjectPool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을 사용한 이유는 빈번한 객체 생성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파괴를 짧은 주기 동안 대량으로 생성되고 파괴되면서 메모리 할당 비용과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GC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부하가 지속적으로 증가하기 때문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그리고 작은 동적 할당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(new)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으로 인해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GC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오버헤드로 인한 프레임 드랍 및 메모리 파편화 현상이 발생하기 때문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ObjectPool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을 사용함 으로써 얻는 이점은 크게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가지로 볼 수 있다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GC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오버헤드 최적화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객체를 파괴하는 대신 풀에 반환하여 재사용 함으로써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GC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호출 빈도를 크게 감소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생성 및 메모리 할당 비용 절감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초기화 시점에 필요한 만큼의 객체를 미리 생성해 두고 재활용하여 런타임 시점의 메모리 할당 오버헤드를 제거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algn="l">
              <a:lnSpc>
                <a:spcPts val="5837"/>
              </a:lnSpc>
            </a:pPr>
            <a:endParaRPr lang="en-US" altLang="ko-KR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13931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C58D0-4084-46DA-B60E-D481A5FF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7846A88-0CCF-43BF-9554-AD016064E02C}"/>
              </a:ext>
            </a:extLst>
          </p:cNvPr>
          <p:cNvSpPr txBox="1"/>
          <p:nvPr/>
        </p:nvSpPr>
        <p:spPr>
          <a:xfrm>
            <a:off x="1028700" y="771526"/>
            <a:ext cx="4364912" cy="2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737373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PORTFOLIO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496A706-6FFC-A8A9-0D84-809669AD301D}"/>
              </a:ext>
            </a:extLst>
          </p:cNvPr>
          <p:cNvSpPr txBox="1"/>
          <p:nvPr/>
        </p:nvSpPr>
        <p:spPr>
          <a:xfrm>
            <a:off x="1028700" y="1286970"/>
            <a:ext cx="5882762" cy="6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998" spc="79" dirty="0" err="1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Skul</a:t>
            </a:r>
            <a:r>
              <a:rPr 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3998" spc="79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모작</a:t>
            </a:r>
            <a:endParaRPr lang="en-US" sz="3998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FFB6796-B77C-CE00-DF6E-204B60DBF5C1}"/>
              </a:ext>
            </a:extLst>
          </p:cNvPr>
          <p:cNvSpPr txBox="1"/>
          <p:nvPr/>
        </p:nvSpPr>
        <p:spPr>
          <a:xfrm>
            <a:off x="1028700" y="2400300"/>
            <a:ext cx="1775338" cy="350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altLang="ko-KR" sz="30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FSM</a:t>
            </a:r>
            <a:r>
              <a:rPr lang="ko-KR" altLang="en-US" sz="30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머신</a:t>
            </a:r>
            <a:endParaRPr lang="en-US" altLang="ko-KR" sz="300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402D74-A396-4B7B-57A9-C8BF446F0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355434"/>
            <a:ext cx="6932720" cy="9131466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3C8F0610-1FB9-3FAA-1D41-AAC954B38224}"/>
              </a:ext>
            </a:extLst>
          </p:cNvPr>
          <p:cNvSpPr txBox="1"/>
          <p:nvPr/>
        </p:nvSpPr>
        <p:spPr>
          <a:xfrm>
            <a:off x="994064" y="3182319"/>
            <a:ext cx="8911936" cy="3689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FSM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패턴을 상태별 스크립트를 만들어 상태별 스크립트 내부에서 상태를 전환하는 로직을 구성하여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PlayerBase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의 코드가 비대해지고 </a:t>
            </a: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GodClass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가 </a:t>
            </a:r>
            <a:r>
              <a:rPr lang="ko-KR" altLang="en-US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되는것을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방지함</a:t>
            </a: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PlayerBase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Awake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에서 상태 스크립트들을 미리 </a:t>
            </a:r>
            <a:r>
              <a:rPr lang="ko-KR" altLang="en-US" dirty="0" err="1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캐싱하여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 매번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new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를 하여 생기는 메모리 부담을 줄인다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Enum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형도 같이 선언하여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Boolean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형식 대신 사용하여 불필요한 </a:t>
            </a:r>
            <a:r>
              <a:rPr lang="en-US" altLang="ko-KR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Boolean</a:t>
            </a:r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형식 선언을 방지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pc="79" dirty="0">
              <a:solidFill>
                <a:srgbClr val="FFFFFF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1467135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3925" y="6018297"/>
            <a:ext cx="12680226" cy="260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68"/>
              </a:lnSpc>
            </a:pPr>
            <a:r>
              <a:rPr lang="en-US" sz="15263" b="1" dirty="0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897620"/>
            <a:ext cx="11923841" cy="37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9"/>
              </a:lnSpc>
              <a:spcBef>
                <a:spcPct val="0"/>
              </a:spcBef>
            </a:pPr>
            <a:r>
              <a:rPr lang="ko-KR" altLang="en-US" sz="1999" dirty="0">
                <a:solidFill>
                  <a:srgbClr val="B4B4B4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정태민</a:t>
            </a:r>
            <a:r>
              <a:rPr lang="en-US" sz="1999" dirty="0">
                <a:solidFill>
                  <a:srgbClr val="B4B4B4"/>
                </a:solidFill>
                <a:latin typeface="윤고딕 Light"/>
                <a:ea typeface="윤고딕 Light"/>
                <a:cs typeface="윤고딕 Light"/>
                <a:sym typeface="윤고딕 Light"/>
              </a:rPr>
              <a:t>     PHONE: 010-4114-2196     MAIL: hanabira2356@gamil.com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598</Words>
  <Application>Microsoft Office PowerPoint</Application>
  <PresentationFormat>사용자 지정</PresentationFormat>
  <Paragraphs>82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윤고딕 Light</vt:lpstr>
      <vt:lpstr>Calibri</vt:lpstr>
      <vt:lpstr>Alexandria Semi-Bold</vt:lpstr>
      <vt:lpstr>Arial</vt:lpstr>
      <vt:lpstr>윤고딕 Thin</vt:lpstr>
      <vt:lpstr>Alexandria Bold</vt:lpstr>
      <vt:lpstr>윤고딕</vt:lpstr>
      <vt:lpstr>Alexandria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흰색 심플한 포트폴리오 프레젠테이션</dc:title>
  <dc:creator>User</dc:creator>
  <cp:lastModifiedBy>hanabira2356@gmail.com</cp:lastModifiedBy>
  <cp:revision>7</cp:revision>
  <dcterms:created xsi:type="dcterms:W3CDTF">2006-08-16T00:00:00Z</dcterms:created>
  <dcterms:modified xsi:type="dcterms:W3CDTF">2026-10-14T21:15:07Z</dcterms:modified>
  <dc:identifier>DAHVSDJwlsI</dc:identifier>
</cp:coreProperties>
</file>